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
1. 0.8 cm^3/s
2. 2 cm^3/s
3. 40 cm^3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ipevo.com/pwa/visualiz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13232"/>
            <a:ext cx="3976543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B: every Build activity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6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10  ·  Chemistry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976543" cy="231343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Describe how surface area affects the rate of a reaction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Explain rate changes using collision theory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3976543" cy="109728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Words: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 ·  collision  ·  surface area  ·  catalyst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61175" y="713232"/>
            <a:ext cx="11887" cy="5413248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5767" y="713232"/>
            <a:ext cx="7151705" cy="36576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· 5 minutes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5767" y="13647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625767" y="13647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8687" y="11704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two things that speed up a reaction.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25767" y="221056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625767" y="22105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8687" y="201625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a catalyst do to the activation energy?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5767" y="305638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625767" y="30563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8687" y="286207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unit for rate of reaction by mass.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25767" y="390220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25767" y="39022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8687" y="370789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powdered marble react faster than chips?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625767" y="474802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5767" y="474802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8687" y="455371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two conditions must a collision meet to be successful?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625767" y="55938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1" name="Text 29"/>
          <p:cNvSpPr/>
          <p:nvPr/>
        </p:nvSpPr>
        <p:spPr>
          <a:xfrm>
            <a:off x="4625767" y="5593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8687" y="53995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the shape of a mass loss curve.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0" y="62453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start · pen out · attempt all questions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two things that speed up a reaction.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62729" y="108813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temperature and higher concentration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1996440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a catalyst do to the activation energy?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62729" y="1996440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Lowers it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904744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unit for rate of reaction by mass.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62729" y="2904744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g/s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powdered marble react faster than chips?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462729" y="3813048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Larger surface area gives more frequent collisions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4721352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two conditions must a collision meet to be successful?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462729" y="4721352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 orientation and enough energy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562965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Sketch the shape of a mass loss curve.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462729" y="562965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Steep at first, then levelling off flat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 · MYSTERY IMAGE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4416552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 flour mills explode but bags of flour do not?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" y="5596128"/>
            <a:ext cx="11365992" cy="868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Suspended flour dust has an enormous surface area, so the whole cloud can burn at once.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8229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change always increases the rate of a reaction?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5614416" cy="1522476"/>
          </a:xfrm>
          <a:prstGeom prst="rect">
            <a:avLst/>
          </a:prstGeom>
          <a:solidFill>
            <a:srgbClr val="FCE4EC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Cooling the mixture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984248"/>
            <a:ext cx="5614416" cy="1522476"/>
          </a:xfrm>
          <a:prstGeom prst="rect">
            <a:avLst/>
          </a:prstGeom>
          <a:solidFill>
            <a:srgbClr val="E3F2FD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Raising the temperature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616452"/>
            <a:ext cx="5614416" cy="1522476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more water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3616452"/>
            <a:ext cx="5614416" cy="1522476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larger lumps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5230368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(silent)   →   DECIDE   →   SHOW on 3 – 2 –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5687568"/>
            <a:ext cx="11365992" cy="77724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Answer: B  ·  </a:t>
            </a:r>
            <a:pPr algn="l" indent="0" marL="0">
              <a:buNone/>
            </a:pPr>
            <a:r>
              <a:rPr lang="en-US" sz="18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Higher temperature means faster particles and more frequent successful collisions.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8229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catalyst increases rate because 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5614416" cy="1522476"/>
          </a:xfrm>
          <a:prstGeom prst="rect">
            <a:avLst/>
          </a:prstGeom>
          <a:solidFill>
            <a:srgbClr val="FCE4EC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raises the temperature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984248"/>
            <a:ext cx="5614416" cy="1522476"/>
          </a:xfrm>
          <a:prstGeom prst="rect">
            <a:avLst/>
          </a:prstGeom>
          <a:solidFill>
            <a:srgbClr val="E3F2FD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used up in the reaction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616452"/>
            <a:ext cx="5614416" cy="1522476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provides a route with lower activation energy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3616452"/>
            <a:ext cx="5614416" cy="1522476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increases the concentration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5230368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(silent)   →   DECIDE   →   SHOW on 3 – 2 –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5687568"/>
            <a:ext cx="11365992" cy="77724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Answer: C  ·  </a:t>
            </a:r>
            <a:pPr algn="l" indent="0" marL="0">
              <a:buNone/>
            </a:pPr>
            <a:r>
              <a:rPr lang="en-US" sz="18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catalyst is not used up and the temperature is unchanged.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82296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graph shape shows a reaction that has finished?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5614416" cy="1522476"/>
          </a:xfrm>
          <a:prstGeom prst="rect">
            <a:avLst/>
          </a:prstGeom>
          <a:solidFill>
            <a:srgbClr val="FCE4EC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straight rising 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984248"/>
            <a:ext cx="5614416" cy="1522476"/>
          </a:xfrm>
          <a:prstGeom prst="rect">
            <a:avLst/>
          </a:prstGeom>
          <a:solidFill>
            <a:srgbClr val="E3F2FD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curve that levels 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616452"/>
            <a:ext cx="5614416" cy="1522476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falling straight 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3616452"/>
            <a:ext cx="5614416" cy="1522476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 </a:t>
            </a:r>
            <a:pPr algn="l" indent="0" marL="0">
              <a:buNone/>
            </a:pPr>
            <a:r>
              <a:rPr lang="en-US" sz="2000" dirty="0">
                <a:solidFill>
                  <a:srgbClr val="2432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line through the origin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5230368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(silent)   →   DECIDE   →   SHOW on 3 – 2 –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5687568"/>
            <a:ext cx="11365992" cy="77724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Answer: B  ·  </a:t>
            </a:r>
            <a:pPr algn="l" indent="0" marL="0">
              <a:buNone/>
            </a:pPr>
            <a:r>
              <a:rPr lang="en-US" sz="18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Levelling off means no more product is being made.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UNDERSTANDING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8183514" cy="73152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flask will produce gas fastest?</a:t>
            </a:r>
            <a:endParaRPr lang="en-US" sz="1400" dirty="0"/>
          </a:p>
        </p:txBody>
      </p:sp>
      <p:pic>
        <p:nvPicPr>
          <p:cNvPr id="11" name="Image 0" descr="C:/Users/magda/claude-projects/science-lesson-v4/topbar-chem-1-graph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11096"/>
            <a:ext cx="8183514" cy="2194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4197096"/>
            <a:ext cx="8183514" cy="185623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chips, cold acid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chips, warm acid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Powder, cold acid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Powder, warm acid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732154" y="1088136"/>
            <a:ext cx="3045318" cy="496519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
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 gives the largest surface area and warm acid gives the most energetic collisions, so both factors act together.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0" y="6126480"/>
            <a:ext cx="12188952" cy="41148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(silent)   →   DECIDE   →   SHOW on 3 – 2 – 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TRUE OR FALSE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0405872" cy="116128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</a:t>
            </a:r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catalyst is used up during the reaction.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54512" y="1088136"/>
            <a:ext cx="822960" cy="116128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2340864"/>
            <a:ext cx="10405872" cy="1161288"/>
          </a:xfrm>
          <a:prstGeom prst="rect">
            <a:avLst/>
          </a:prstGeom>
          <a:solidFill>
            <a:srgbClr val="FFF8E1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</a:t>
            </a:r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Powdered solids react faster than lumps.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54512" y="2340864"/>
            <a:ext cx="822960" cy="116128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3593592"/>
            <a:ext cx="10405872" cy="116128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</a:t>
            </a:r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Cooling a reaction always speeds it up.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54512" y="3593592"/>
            <a:ext cx="822960" cy="116128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846320"/>
            <a:ext cx="10405872" cy="1161288"/>
          </a:xfrm>
          <a:prstGeom prst="rect">
            <a:avLst/>
          </a:prstGeom>
          <a:solidFill>
            <a:srgbClr val="FFF8E1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</a:t>
            </a:r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steepest part of a rate graph is at the start.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54512" y="4846320"/>
            <a:ext cx="822960" cy="1161288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6099048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 T or F for each — be ready to justify on 3-2-1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TRUE OR FALSE: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11365992" cy="1184148"/>
          </a:xfrm>
          <a:prstGeom prst="rect">
            <a:avLst/>
          </a:prstGeom>
          <a:solidFill>
            <a:srgbClr val="FFEBE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catalyst is used up during the reaction.   </a:t>
            </a:r>
            <a:pPr algn="l"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FALSE</a:t>
            </a:r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It is chemically unchanged at the end.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729484"/>
            <a:ext cx="11365992" cy="1184148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Powdered solids react faster than lumps.   </a:t>
            </a:r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TRUE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005072"/>
            <a:ext cx="11365992" cy="1184148"/>
          </a:xfrm>
          <a:prstGeom prst="rect">
            <a:avLst/>
          </a:prstGeom>
          <a:solidFill>
            <a:srgbClr val="FFEBE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Cooling a reaction always speeds it up.   </a:t>
            </a:r>
            <a:pPr algn="l" indent="0" marL="0">
              <a:buNone/>
            </a:pPr>
            <a:r>
              <a:rPr lang="en-US" sz="15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FALSE</a:t>
            </a:r>
            <a:pPr algn="l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 Cooling slows it down.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5280660"/>
            <a:ext cx="11365992" cy="1184148"/>
          </a:xfrm>
          <a:prstGeom prst="rect">
            <a:avLst/>
          </a:prstGeom>
          <a:solidFill>
            <a:srgbClr val="E8F5E9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steepest part of a rate graph is at the start.   </a:t>
            </a:r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TRUE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SORT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Sort each change into the correct column.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Heating the acid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453896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bigger lumps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a catalyst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3154680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Diluting the acid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855464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Grinding to a powder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3056" y="4855464"/>
            <a:ext cx="5614416" cy="160934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Cooling in 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SORT: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5614416" cy="384048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SPEEDS IT 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72184"/>
            <a:ext cx="5614416" cy="499262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Heating the acid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Adding a catalyst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Grinding to a powder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63056" y="1088136"/>
            <a:ext cx="5614416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SLOWS IT DOWN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63056" y="1472184"/>
            <a:ext cx="5614416" cy="499262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Using bigger lumps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Diluting the acid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Cooling in 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MEASURING RATE BY MASS LOSS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Marble chips react with hydrochloric acid and the flask loses mass as carbon dioxide escapes.</a:t>
            </a:r>
            <a:endParaRPr lang="en-US" sz="1200" dirty="0"/>
          </a:p>
        </p:txBody>
      </p:sp>
      <p:pic>
        <p:nvPicPr>
          <p:cNvPr id="11" name="Image 0" descr="C:/Users/magda/claude-projects/science-lesson-v4/topbar-chem-2-fuller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8956" y="1499616"/>
            <a:ext cx="5318516" cy="28163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58956" y="4407408"/>
            <a:ext cx="5318516" cy="2057400"/>
          </a:xfrm>
          <a:prstGeom prst="rect">
            <a:avLst/>
          </a:prstGeom>
          <a:solidFill>
            <a:srgbClr val="0D1B5E"/>
          </a:solidFill>
          <a:ln w="25400">
            <a:solidFill>
              <a:srgbClr val="E65100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PER GROUP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Conical flask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Marble chips, 5 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Hydrochloric acid, 50 cm3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Balance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Cotton wool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1813941"/>
            <a:ext cx="384048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1499616"/>
            <a:ext cx="5407396" cy="101269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 the flask on the balance and zero it.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11480" y="2918079"/>
            <a:ext cx="384048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2603754"/>
            <a:ext cx="5407396" cy="101269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acid, then the marble chips, and plug with cotton wool.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11480" y="4022217"/>
            <a:ext cx="384048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3707892"/>
            <a:ext cx="5407396" cy="101269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the mass every 30 seconds for 5 minutes.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11480" y="5126355"/>
            <a:ext cx="384048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4812030"/>
            <a:ext cx="5407396" cy="101269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 mass lost against time.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11480" y="5916168"/>
            <a:ext cx="5910316" cy="548640"/>
          </a:xfrm>
          <a:prstGeom prst="rect">
            <a:avLst/>
          </a:prstGeom>
          <a:solidFill>
            <a:srgbClr val="FFF3F3"/>
          </a:solidFill>
          <a:ln w="25400">
            <a:solidFill>
              <a:srgbClr val="CC0000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Warning: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Wear eye protection. Hydrochloric acid is an irritant.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PRACTICAL QUESTIONS: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3978097" cy="246888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the flask plugged with cotton wool?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453896"/>
            <a:ext cx="7314743" cy="24688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lets gas out but stops acid spray escaping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995928"/>
            <a:ext cx="3978097" cy="246888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the graph level off?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995928"/>
            <a:ext cx="7314743" cy="24688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reactant has been used up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MODEL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results, 5 g marble chips with 50 cm3 of 1.0 mol/dm3 hydrochloric acid.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53896"/>
          <a:ext cx="11365992" cy="914400"/>
        </p:xfrm>
        <a:graphic>
          <a:graphicData uri="http://schemas.openxmlformats.org/drawingml/2006/table">
            <a:tbl>
              <a:tblPr/>
              <a:tblGrid>
                <a:gridCol w="5682996"/>
                <a:gridCol w="5682996"/>
              </a:tblGrid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 (s)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65100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Volume of gas (cm3)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51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5E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22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38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48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54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150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57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180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58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210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D1B5E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58</a:t>
                      </a:r>
                      <a:endParaRPr lang="en-US" sz="1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B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WHAT PEOPLE GET WRONG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088136"/>
            <a:ext cx="11091672" cy="1563624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CLAIM   </a:t>
            </a:r>
            <a:pPr algn="l" indent="0" marL="0">
              <a:buNone/>
            </a:pPr>
            <a:r>
              <a:rPr lang="en-US" sz="20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 catalyst makes the reaction produce more product.”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1091672" cy="156362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FEELS TRUE   </a:t>
            </a:r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see the reaction finish sooner, so it feels like more has happened in the same time.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398264"/>
            <a:ext cx="11091672" cy="156362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ACTUALLY TRUE   </a:t>
            </a:r>
            <a:pPr algn="l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catalyst changes only the rate. The final yield is exactly the same.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126480"/>
            <a:ext cx="12188952" cy="41148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 up A if you believed the claim before today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49224"/>
            <a:ext cx="11365992" cy="5248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pPr algn="ctr" indent="0" marL="0">
              <a:buNone/>
            </a:pPr>
            <a:r>
              <a:rPr lang="en-US" sz="48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degrees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411480" y="5897880"/>
            <a:ext cx="11365992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10 degree Celsius rise roughly doubles the rate of many reactions.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REORDER THE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727704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the mass every 30 seconds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30624" y="1088136"/>
            <a:ext cx="3727704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the balance with the empty flask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9768" y="1088136"/>
            <a:ext cx="3727704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 with cotton wool and start the timer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825496"/>
            <a:ext cx="3727704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acid to the flask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30624" y="2825496"/>
            <a:ext cx="3727704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  </a:t>
            </a:r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marble chips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562856"/>
            <a:ext cx="11365992" cy="36576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out the correct order and write the letters in sequence.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REORDER THE METHOD: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2053742" cy="2011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(shown as 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the balance with the empty flask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01798" y="2459736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739542" y="1453896"/>
            <a:ext cx="2053742" cy="2011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(shown as D)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acid to the flask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29861" y="2459736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67605" y="1453896"/>
            <a:ext cx="2053742" cy="2011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(shown as 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the marble chips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57923" y="2459736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95667" y="1453896"/>
            <a:ext cx="2053742" cy="2011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(shown as C)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Plug with cotton wool and start the timer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85986" y="2459736"/>
            <a:ext cx="201168" cy="0"/>
          </a:xfrm>
          <a:prstGeom prst="line">
            <a:avLst/>
          </a:prstGeom>
          <a:noFill/>
          <a:ln w="31750">
            <a:solidFill>
              <a:srgbClr val="FABB2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723730" y="1453896"/>
            <a:ext cx="2053742" cy="20116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(shown as A)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the mass every 30 seconds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LABEL THE APPARATUS</a:t>
            </a:r>
            <a:endParaRPr lang="en-US" sz="1300" dirty="0"/>
          </a:p>
        </p:txBody>
      </p:sp>
      <p:pic>
        <p:nvPicPr>
          <p:cNvPr id="10" name="Image 0" descr="C:/Users/magda/claude-projects/science-lesson-v4/topbar-bio-3-leafve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8136"/>
            <a:ext cx="6819595" cy="53766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629095" y="2286000"/>
            <a:ext cx="292608" cy="292608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2" name="Text 9"/>
          <p:cNvSpPr/>
          <p:nvPr/>
        </p:nvSpPr>
        <p:spPr>
          <a:xfrm>
            <a:off x="1629095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015953" y="2017166"/>
            <a:ext cx="292608" cy="292608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4" name="Text 11"/>
          <p:cNvSpPr/>
          <p:nvPr/>
        </p:nvSpPr>
        <p:spPr>
          <a:xfrm>
            <a:off x="4015953" y="201716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720852" y="3092501"/>
            <a:ext cx="292608" cy="292608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6" name="Text 13"/>
          <p:cNvSpPr/>
          <p:nvPr/>
        </p:nvSpPr>
        <p:spPr>
          <a:xfrm>
            <a:off x="5720852" y="3092501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652034" y="4705502"/>
            <a:ext cx="292608" cy="292608"/>
          </a:xfrm>
          <a:prstGeom prst="ellipse">
            <a:avLst/>
          </a:prstGeom>
          <a:solidFill>
            <a:srgbClr val="FABB2E"/>
          </a:solidFill>
          <a:ln/>
        </p:spPr>
      </p:sp>
      <p:sp>
        <p:nvSpPr>
          <p:cNvPr id="18" name="Text 15"/>
          <p:cNvSpPr/>
          <p:nvPr/>
        </p:nvSpPr>
        <p:spPr>
          <a:xfrm>
            <a:off x="2652034" y="470550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13955" y="1088136"/>
            <a:ext cx="4363517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—  Conical flask holding the reactants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—  Delivery tube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—  Gas syringe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—  Reaction mixture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WORKED EXAMPLE → YOUR TURN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088136"/>
            <a:ext cx="5271516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68796" y="1088136"/>
            <a:ext cx="5271516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527048"/>
            <a:ext cx="5271516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48 cm</a:t>
            </a:r>
            <a:pPr algn="l" indent="0" marL="0">
              <a:buNone/>
            </a:pPr>
            <a:r>
              <a:rPr lang="en-US" sz="1200" baseline="30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of gas is collected in 60 s. Find the mean rate.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68796" y="1527048"/>
            <a:ext cx="5271516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36 cm</a:t>
            </a:r>
            <a:pPr algn="l" indent="0" marL="0">
              <a:buNone/>
            </a:pPr>
            <a:r>
              <a:rPr lang="en-US" sz="1200" baseline="30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algn="l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of gas is collected in 45 s. Find the mean rate.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5271516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1.  Write the equation: rate = volume ÷ time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2.  Substitute: rate = 48 ÷ 60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3.  Solve: rate = 0.8</a:t>
            </a:r>
            <a:endParaRPr lang="en-US" sz="13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4.  Add the unit: 0.8 cm</a:t>
            </a:r>
            <a:pPr algn="l" indent="0" marL="0">
              <a:buNone/>
            </a:pPr>
            <a:r>
              <a:rPr lang="en-US" sz="1300" baseline="30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/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68796" y="2395728"/>
            <a:ext cx="5271516" cy="406908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rate = 36 ÷ 45 = 0.8 cm</a:t>
            </a:r>
            <a:pPr algn="l" indent="0" marL="0">
              <a:buNone/>
            </a:pPr>
            <a:r>
              <a:rPr lang="en-US" sz="1300" baseline="3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/</a:t>
            </a:r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WORKED EXAMPLE · MEAN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1997" y="1088136"/>
            <a:ext cx="6955475" cy="537667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308091"/>
            <a:ext cx="537667" cy="537667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308091"/>
            <a:ext cx="537667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86307" y="1088136"/>
            <a:ext cx="3644250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you given?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59157" y="1088136"/>
            <a:ext cx="6681155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Volume of gas = 60 cm</a:t>
            </a:r>
            <a:pPr indent="0" marL="0">
              <a:buNone/>
            </a:pPr>
            <a:r>
              <a:rPr lang="en-US" sz="1400" baseline="300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time = 40 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" y="2285667"/>
            <a:ext cx="537667" cy="537667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85667"/>
            <a:ext cx="537667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086307" y="2065713"/>
            <a:ext cx="3644250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unknown?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21997" y="2065713"/>
            <a:ext cx="6955475" cy="0"/>
          </a:xfrm>
          <a:prstGeom prst="line">
            <a:avLst/>
          </a:prstGeom>
          <a:noFill/>
          <a:ln w="12700">
            <a:solidFill>
              <a:srgbClr val="FAB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9157" y="2065713"/>
            <a:ext cx="6681155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Mean rate of reaction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11480" y="3419690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ABB2E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1969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15568" y="3043289"/>
            <a:ext cx="3614989" cy="1319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equation?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21997" y="3043289"/>
            <a:ext cx="6955475" cy="0"/>
          </a:xfrm>
          <a:prstGeom prst="line">
            <a:avLst/>
          </a:prstGeom>
          <a:noFill/>
          <a:ln w="12700">
            <a:solidFill>
              <a:srgbClr val="FABB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6317" y="3098153"/>
            <a:ext cx="1341120" cy="1210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rate = </a:t>
            </a:r>
            <a:endParaRPr lang="en-US" sz="2000" dirty="0"/>
          </a:p>
        </p:txBody>
      </p:sp>
      <p:sp>
        <p:nvSpPr>
          <p:cNvPr id="25" name="eqFracNum"/>
          <p:cNvSpPr/>
          <p:nvPr/>
        </p:nvSpPr>
        <p:spPr>
          <a:xfrm>
            <a:off x="6199693" y="3434422"/>
            <a:ext cx="21336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600" dirty="0"/>
          </a:p>
        </p:txBody>
      </p:sp>
      <p:sp>
        <p:nvSpPr>
          <p:cNvPr id="26" name="eqFracBar"/>
          <p:cNvSpPr/>
          <p:nvPr/>
        </p:nvSpPr>
        <p:spPr>
          <a:xfrm>
            <a:off x="6216762" y="3703154"/>
            <a:ext cx="179222" cy="0"/>
          </a:xfrm>
          <a:prstGeom prst="line">
            <a:avLst/>
          </a:prstGeom>
          <a:noFill/>
          <a:ln w="15875">
            <a:solidFill>
              <a:srgbClr val="FABB2E"/>
            </a:solidFill>
            <a:prstDash val="solid"/>
          </a:ln>
        </p:spPr>
      </p:sp>
      <p:sp>
        <p:nvSpPr>
          <p:cNvPr id="27" name="eqFracDen"/>
          <p:cNvSpPr/>
          <p:nvPr/>
        </p:nvSpPr>
        <p:spPr>
          <a:xfrm>
            <a:off x="6199693" y="3707726"/>
            <a:ext cx="21336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237839" y="3153017"/>
            <a:ext cx="1265313" cy="1100273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D1B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04779" y="3615132"/>
            <a:ext cx="531432" cy="0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0495" y="3615132"/>
            <a:ext cx="0" cy="638158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54167" y="3199229"/>
            <a:ext cx="632657" cy="34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37839" y="3633420"/>
            <a:ext cx="632657" cy="60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870495" y="3633420"/>
            <a:ext cx="632657" cy="60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11480" y="4582973"/>
            <a:ext cx="537667" cy="537667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582973"/>
            <a:ext cx="537667" cy="5376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1086307" y="4363018"/>
            <a:ext cx="3644250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Substitute the numbers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821997" y="4363018"/>
            <a:ext cx="6955475" cy="0"/>
          </a:xfrm>
          <a:prstGeom prst="line">
            <a:avLst/>
          </a:prstGeom>
          <a:noFill/>
          <a:ln w="12700">
            <a:solidFill>
              <a:srgbClr val="FABB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9157" y="4363018"/>
            <a:ext cx="6681155" cy="977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rate = 60 ÷ 40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411480" y="5619237"/>
            <a:ext cx="566928" cy="566928"/>
          </a:xfrm>
          <a:prstGeom prst="roundRect">
            <a:avLst>
              <a:gd name="adj" fmla="val 11290"/>
            </a:avLst>
          </a:prstGeom>
          <a:solidFill>
            <a:srgbClr val="FABB2E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5619237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1115568" y="5340595"/>
            <a:ext cx="3614989" cy="1124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 (add units)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821997" y="5340595"/>
            <a:ext cx="6955475" cy="0"/>
          </a:xfrm>
          <a:prstGeom prst="line">
            <a:avLst/>
          </a:prstGeom>
          <a:noFill/>
          <a:ln w="12700">
            <a:solidFill>
              <a:srgbClr val="FABB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9157" y="5340595"/>
            <a:ext cx="6681155" cy="1124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rate = 1.5 cm</a:t>
            </a:r>
            <a:pPr indent="0" marL="0">
              <a:buNone/>
            </a:pPr>
            <a:r>
              <a:rPr lang="en-US" sz="1600" baseline="300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/</a:t>
            </a:r>
            <a:pPr indent="0" marL="0">
              <a:buNone/>
            </a:pPr>
            <a:r>
              <a:rPr lang="en-US" sz="24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YOUR TURN · MEAN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7387895" cy="101120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cm³ of gas in 30 s. Find the rate.  [2 marks]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69079"/>
            <a:ext cx="7067855" cy="662513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  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0.8 cm</a:t>
            </a:r>
            <a:pPr indent="0" marL="0">
              <a:buNone/>
            </a:pPr>
            <a:r>
              <a:rPr lang="en-US" sz="1000" baseline="300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/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04744"/>
            <a:ext cx="7387895" cy="101120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 cm³ of gas in 45 s. Find the rate.  [2 marks]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85687"/>
            <a:ext cx="7067855" cy="662513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  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 cm</a:t>
            </a:r>
            <a:pPr indent="0" marL="0">
              <a:buNone/>
            </a:pPr>
            <a:r>
              <a:rPr lang="en-US" sz="1000" baseline="300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/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4721352"/>
            <a:ext cx="7387895" cy="101120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rate of 0.5 cm³/s for 80 s. Find the volume.  [3 marks]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802295"/>
            <a:ext cx="7067855" cy="662513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  </a:t>
            </a:r>
            <a:pPr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40 cm</a:t>
            </a:r>
            <a:pPr indent="0" marL="0">
              <a:buNone/>
            </a:pPr>
            <a:r>
              <a:rPr lang="en-US" sz="1000" baseline="30000" dirty="0">
                <a:solidFill>
                  <a:srgbClr val="FABB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90815" y="1088136"/>
            <a:ext cx="388665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EQUATION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890815" y="1499616"/>
            <a:ext cx="3886657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14815" y="1499616"/>
            <a:ext cx="144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5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rate = </a:t>
            </a:r>
            <a:endParaRPr lang="en-US" sz="2200" dirty="0"/>
          </a:p>
        </p:txBody>
      </p:sp>
      <p:sp>
        <p:nvSpPr>
          <p:cNvPr id="20" name="eqFracNum"/>
          <p:cNvSpPr/>
          <p:nvPr/>
        </p:nvSpPr>
        <p:spPr>
          <a:xfrm>
            <a:off x="10324871" y="1700784"/>
            <a:ext cx="228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800" dirty="0"/>
          </a:p>
        </p:txBody>
      </p:sp>
      <p:sp>
        <p:nvSpPr>
          <p:cNvPr id="21" name="eqFracBar"/>
          <p:cNvSpPr/>
          <p:nvPr/>
        </p:nvSpPr>
        <p:spPr>
          <a:xfrm>
            <a:off x="10343159" y="2002536"/>
            <a:ext cx="192024" cy="0"/>
          </a:xfrm>
          <a:prstGeom prst="line">
            <a:avLst/>
          </a:prstGeom>
          <a:noFill/>
          <a:ln w="17463">
            <a:solidFill>
              <a:srgbClr val="0D1B5E"/>
            </a:solidFill>
            <a:prstDash val="solid"/>
          </a:ln>
        </p:spPr>
      </p:sp>
      <p:sp>
        <p:nvSpPr>
          <p:cNvPr id="22" name="eqFracDen"/>
          <p:cNvSpPr/>
          <p:nvPr/>
        </p:nvSpPr>
        <p:spPr>
          <a:xfrm>
            <a:off x="10324871" y="2007108"/>
            <a:ext cx="228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27975" y="2960271"/>
            <a:ext cx="3612337" cy="3141163"/>
          </a:xfrm>
          <a:prstGeom prst="triangle">
            <a:avLst/>
          </a:prstGeom>
          <a:solidFill>
            <a:srgbClr val="FFFFFF"/>
          </a:solidFill>
          <a:ln w="25400">
            <a:solidFill>
              <a:srgbClr val="0D1B5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75553" y="4279559"/>
            <a:ext cx="1517182" cy="0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34143" y="4279559"/>
            <a:ext cx="0" cy="1821874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31059" y="3092199"/>
            <a:ext cx="1806169" cy="989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27975" y="4297847"/>
            <a:ext cx="1806169" cy="1785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834143" y="4297847"/>
            <a:ext cx="1806169" cy="17852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SPOT THE MISTAKE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6819595" cy="5376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rate = time \div volume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rate = 40 \div 60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rate = 0.67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rate = 0.67 cm^3/s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8235" y="1088136"/>
            <a:ext cx="4409237" cy="868680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task: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Which line is wrong?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Why is it wrong?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Write the corrected line.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8235" y="2048256"/>
            <a:ext cx="4409237" cy="441655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your answer here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SPOT THE MISTAKE: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6819595" cy="501091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u="sng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 rate = time \div volume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 rate = 40 \div 60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 rate = 0.67</a:t>
            </a:r>
            <a:endParaRPr lang="en-US" sz="13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 rate = 0.67 cm^3/s</a:t>
            </a:r>
            <a:endParaRPr lang="en-US" sz="13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rate = volume \div time = 60 \div 40 = 1.5 cm^3/s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8235" y="1453896"/>
            <a:ext cx="4409237" cy="501091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on line 1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type: Equation written upside down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Corrected: rate = volume \div time = 60 \div 40 = 1.5 cm^3/s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READ THE GRAPH: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453896"/>
            <a:ext cx="6251296" cy="5010912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499616"/>
            <a:ext cx="606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of gas against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1911096"/>
            <a:ext cx="0" cy="4050792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5961888"/>
            <a:ext cx="5336896" cy="0"/>
          </a:xfrm>
          <a:prstGeom prst="line">
            <a:avLst/>
          </a:prstGeom>
          <a:noFill/>
          <a:ln w="19050">
            <a:solidFill>
              <a:srgbClr val="0D1B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1956816"/>
            <a:ext cx="5245456" cy="3959352"/>
          </a:xfrm>
          <a:prstGeom prst="rect">
            <a:avLst/>
          </a:prstGeom>
          <a:solidFill>
            <a:srgbClr val="D0D0D0"/>
          </a:solidFill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[Paste image — suggested search: gas volume against time curve that rises steeply then levels off]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9936" y="1453896"/>
            <a:ext cx="4977536" cy="629107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the reaction fastest?  [1 mark]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99936" y="2119579"/>
            <a:ext cx="4977536" cy="943661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the start, where the curve is steepest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99936" y="3154680"/>
            <a:ext cx="4977536" cy="629107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flat section show?  [2 marks]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99936" y="3820363"/>
            <a:ext cx="4977536" cy="943661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reaction has stopped, a reactant is used up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99936" y="4855464"/>
            <a:ext cx="4977536" cy="629107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would a powder change the curve?  [2 marks]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99936" y="5521147"/>
            <a:ext cx="4977536" cy="943661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Steeper at the start, levelling at the same final volume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RESULTS GRAPH</a:t>
            </a:r>
            <a:endParaRPr lang="en-US" sz="1300" dirty="0"/>
          </a:p>
        </p:txBody>
      </p:sp>
      <p:pic>
        <p:nvPicPr>
          <p:cNvPr id="10" name="Image 0" descr="C:\Users\magda\AppData\Local\Temp\gg_out_17884770242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8136"/>
            <a:ext cx="7956194" cy="53766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59114" y="1088136"/>
            <a:ext cx="3318358" cy="537667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50554" y="1133856"/>
            <a:ext cx="31354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graph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50554" y="1591056"/>
            <a:ext cx="3135478" cy="1395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steepest gradient is at t = 0, where concentration is highest.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50554" y="3032760"/>
            <a:ext cx="3135478" cy="1395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gradient falls steadily as the acid is used up.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50554" y="4474464"/>
            <a:ext cx="3135478" cy="1395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curve flattens when one reactant runs out.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50554" y="5824728"/>
            <a:ext cx="313547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final volume, different time to get there.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MAKE A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685800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flasks hold the same mass of marble and the same acid. One holds chips, the other holds powder.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865376"/>
            <a:ext cx="11365992" cy="11887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flask stops bubbling first, and will they lose the same total mass?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11365992" cy="2816352"/>
          </a:xfrm>
          <a:prstGeom prst="rect">
            <a:avLst/>
          </a:prstGeom>
          <a:solidFill>
            <a:srgbClr val="FFFDE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your prediction in your book now.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6053328"/>
            <a:ext cx="11365992" cy="41148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 your prediction before seeing the answer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· CHECK YOUR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101498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53896"/>
            <a:ext cx="5591556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PREDICTION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01368"/>
            <a:ext cx="5591556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flask stops bubbling first, and will they lose the same total mass?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5916" y="1453896"/>
            <a:ext cx="5591556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ACTUALLY HAPPENS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85916" y="1801368"/>
            <a:ext cx="5591556" cy="329184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powder finishes first, but both lose exactly the same total mass.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5184648"/>
            <a:ext cx="11365992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WHY:  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 area changes the rate, not the amount of product.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796796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IPEVO Visualiser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280263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rate calculations under the visualiser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2514" y="3351276"/>
            <a:ext cx="670392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https://apps.ipevo.com/pwa/visualizer.app/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2851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Click to open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· CHOOSE YOUR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82712" y="649224"/>
            <a:ext cx="4114800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more — AQA Chemistry (Kerboodle), pp. 130–136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088136"/>
            <a:ext cx="5614416" cy="38404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72184"/>
            <a:ext cx="5614416" cy="2258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three factors that change the rate of a reaction.  [3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what a catalyst does.  [1 mark]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the unit of rate measured by gas volume.  [1 mark]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63056" y="1088136"/>
            <a:ext cx="5614416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1472184"/>
            <a:ext cx="5614416" cy="2258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powdered marble reacts faster than chips.  [3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shape of a mass loss curve.  [3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cm3 of gas is collected in 25 s. Calculate the mean rate.  [2 marks]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11365992" cy="384048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11365992" cy="2258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collision theory, explain fully why raising the temperature of a reacting mixture by 10 degrees Celsius can roughly double the rate of reaction, and explain why a catalyst has a different effect on the same mixture.  [6 marks]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DEVELOPING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factors that change rate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Temperature, concentration, surface area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catalyst does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Speeds the reaction without being used up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of rate by gas volume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cm3/s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REACHING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powder beats chips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surface area, more frequent collisions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3099816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curve levels off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3099816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reactant has run out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4809744"/>
            <a:ext cx="3978097" cy="1655064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cm3 in 25 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62729" y="4809744"/>
            <a:ext cx="7314743" cy="1655064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2.4 cm3/s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MASTERING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5074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and catalyst compared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5074920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raises collision energy and frequency, a catalyst lowers activation energy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how surface area affects the rate of a reaction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BANK — sources and assets used in this lesson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pic>
        <p:nvPicPr>
          <p:cNvPr id="4" name="Image 0" descr="C:\Users\magda\AppData\Local\Temp\gg_out_17884770329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85216"/>
            <a:ext cx="3697224" cy="2619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3241548"/>
            <a:ext cx="3697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graph</a:t>
            </a:r>
            <a:endParaRPr lang="en-US" sz="1000" dirty="0"/>
          </a:p>
        </p:txBody>
      </p:sp>
      <p:pic>
        <p:nvPicPr>
          <p:cNvPr id="6" name="Image 1" descr="C:/Users/magda/claude-projects/science-lesson-v4/topbar-chem-1-graphe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144" y="585216"/>
            <a:ext cx="3697224" cy="26197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0144" y="3241548"/>
            <a:ext cx="3697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mcq_image</a:t>
            </a:r>
            <a:endParaRPr lang="en-US" sz="1000" dirty="0"/>
          </a:p>
        </p:txBody>
      </p:sp>
      <p:pic>
        <p:nvPicPr>
          <p:cNvPr id="8" name="Image 2" descr="C:/Users/magda/claude-projects/science-lesson-v4/topbar-chem-2-fullere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808" y="585216"/>
            <a:ext cx="3697224" cy="26197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8808" y="3241548"/>
            <a:ext cx="3697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</a:t>
            </a:r>
            <a:endParaRPr lang="en-US" sz="1000" dirty="0"/>
          </a:p>
        </p:txBody>
      </p:sp>
      <p:pic>
        <p:nvPicPr>
          <p:cNvPr id="10" name="Image 3" descr="C:/Users/magda/claude-projects/science-lesson-v4/topbar-bio-3-leafve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25012"/>
            <a:ext cx="3697224" cy="2619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480" y="6181344"/>
            <a:ext cx="36972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annotatedDiagram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2026-09-03T23:10:36Z</dcterms:created>
  <dcterms:modified xsi:type="dcterms:W3CDTF">2026-09-03T23:10:36Z</dcterms:modified>
</cp:coreProperties>
</file>