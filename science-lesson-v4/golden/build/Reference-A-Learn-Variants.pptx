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points:
4.5.1.1 Distance and displacement
4.5.1.2 Speed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xample.org/cheetah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xample.org/light-gat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apps.ipevo.com/pwa/visualizer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713232"/>
            <a:ext cx="3976543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A: every Learn variant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3976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9  ·  Physics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3976543" cy="231343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Describe how speed is calculated from distance and time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Explain the difference between speed and velocity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Apply the speed equation to unfamiliar contexts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5029200"/>
            <a:ext cx="3976543" cy="109728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Words: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 ·  velocity  ·  displacement  ·  scalar  ·  vector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61175" y="713232"/>
            <a:ext cx="11887" cy="5413248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14" name="Text 12"/>
          <p:cNvSpPr/>
          <p:nvPr/>
        </p:nvSpPr>
        <p:spPr>
          <a:xfrm>
            <a:off x="4625767" y="713232"/>
            <a:ext cx="7151705" cy="365760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25767" y="13647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625767" y="13647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8687" y="11704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unit of speed?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625767" y="221056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625767" y="221056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8687" y="201625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one scalar quantity.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5767" y="305638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625767" y="305638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8687" y="286207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one vector quantity.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625767" y="390220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5" name="Text 23"/>
          <p:cNvSpPr/>
          <p:nvPr/>
        </p:nvSpPr>
        <p:spPr>
          <a:xfrm>
            <a:off x="4625767" y="390220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28687" y="370789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equation linking speed, distance and time.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4625767" y="474802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8" name="Text 26"/>
          <p:cNvSpPr/>
          <p:nvPr/>
        </p:nvSpPr>
        <p:spPr>
          <a:xfrm>
            <a:off x="4625767" y="474802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8687" y="455371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car travels 100 m in 5 s. What is its speed?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4625767" y="55938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31" name="Text 29"/>
          <p:cNvSpPr/>
          <p:nvPr/>
        </p:nvSpPr>
        <p:spPr>
          <a:xfrm>
            <a:off x="4625767" y="55938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8687" y="53995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velocity a vector but speed is not?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0" y="62453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start · pen out · attempt all questions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unit of speed?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62729" y="1088136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m/s, m/s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996440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one scalar quantity.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62729" y="1996440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Speed, distance, mass or energy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2904744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one vector quantity.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62729" y="2904744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Velocity, displacement, force or acceleration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11480" y="3813048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equation linking speed, distance and time.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62729" y="3813048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= distance / time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4721352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car travels 100 m in 5 s. What is its speed?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462729" y="4721352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m/s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11480" y="5629656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velocity a vector but speed is not?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462729" y="5629656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states a direction as well as a size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 · MAKE A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6251296" cy="914400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cheetah and a peregrine falcon race over 100 m. Which finishes first?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11480" y="2093976"/>
            <a:ext cx="6251296" cy="176479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Cheetahs reach about 29 m/s over short bursts. Peregrine falcons are the fastest animals on Earth, but only in a dive, and a level 100 m race is not a dive.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99936" y="1088136"/>
            <a:ext cx="4977536" cy="3364992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[Paste image — suggested search: cheetah running at full speed side view]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950208"/>
            <a:ext cx="625129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</a:t>
            </a:r>
            <a:pPr algn="l" indent="0" marL="0">
              <a:buNone/>
            </a:pPr>
            <a:r>
              <a:rPr lang="en-US" sz="1300" u="sng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Slow motion cheetah sprint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5779008"/>
            <a:ext cx="11365992" cy="685800"/>
          </a:xfrm>
          <a:prstGeom prst="rect">
            <a:avLst/>
          </a:prstGeom>
          <a:solidFill>
            <a:srgbClr val="FFF8E1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Talk to the person next to you. What would change your answer?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544568"/>
            <a:ext cx="6251296" cy="1143000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animal wins a level 100 m race?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735928" y="4544568"/>
            <a:ext cx="5041544" cy="114300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01600" tIns="101600" rIns="101600" bIns="1016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cheetah. A falcon only beats it while diving, not in level flight.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SPEED AND VELOCITY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88136"/>
          <a:ext cx="6251296" cy="914400"/>
        </p:xfrm>
        <a:graphic>
          <a:graphicData uri="http://schemas.openxmlformats.org/drawingml/2006/table">
            <a:tbl>
              <a:tblPr/>
              <a:tblGrid>
                <a:gridCol w="6251296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Speed</a:t>
                      </a:r>
                      <a:endParaRPr lang="en-US" sz="2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1545336">
                <a:tc>
                  <a:txBody>
                    <a:bodyPr/>
                    <a:lstStyle/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How fast an object moves.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 scalar: size only, no direction.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Measured in metres per second.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t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319272"/>
          <a:ext cx="6251296" cy="914400"/>
        </p:xfrm>
        <a:graphic>
          <a:graphicData uri="http://schemas.openxmlformats.org/drawingml/2006/table">
            <a:tbl>
              <a:tblPr/>
              <a:tblGrid>
                <a:gridCol w="6251296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Velocity</a:t>
                      </a:r>
                      <a:endParaRPr lang="en-US" sz="2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1545336">
                <a:tc>
                  <a:txBody>
                    <a:bodyPr/>
                    <a:lstStyle/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Speed in a stated direction.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 vector: size and direction.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Changes if the direction changes, even at constant speed.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t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550408"/>
          <a:ext cx="6251296" cy="914400"/>
        </p:xfrm>
        <a:graphic>
          <a:graphicData uri="http://schemas.openxmlformats.org/drawingml/2006/table">
            <a:tbl>
              <a:tblPr/>
              <a:tblGrid>
                <a:gridCol w="6251296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terms:</a:t>
                      </a:r>
                      <a:endParaRPr lang="en-US" sz="2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17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scalar  ·  vector  ·  displacement</a:t>
                      </a:r>
                      <a:endParaRPr lang="en-US" sz="17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t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Image 0" descr="C:/Users/magda/claude-projects/science-lesson-v4/topbar-bio-1-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9936" y="1088136"/>
            <a:ext cx="4977536" cy="53766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WORKING OUT AN AVERAGE SPEED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88136"/>
          <a:ext cx="6251296" cy="914400"/>
        </p:xfrm>
        <a:graphic>
          <a:graphicData uri="http://schemas.openxmlformats.org/drawingml/2006/table">
            <a:tbl>
              <a:tblPr/>
              <a:tblGrid>
                <a:gridCol w="6251296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Working out an average speed</a:t>
                      </a:r>
                      <a:endParaRPr lang="en-US" sz="2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4782312">
                <a:tc>
                  <a:txBody>
                    <a:bodyPr/>
                    <a:lstStyle/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Average speed uses the total distance and the total time.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It hides any stops or changes of pace along the way.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Two journeys with the same average speed can look completely different.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t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799936" y="1088136"/>
            <a:ext cx="497753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ABB2E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845656" y="11155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live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MOTION VOCABULARY · KEY WORDS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5637276" cy="88239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Scalar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quantity with size only.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Latin scala, a ladder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0196" y="1088136"/>
            <a:ext cx="5637276" cy="88239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quantity with size and direction.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Latin vehere, to carry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061972"/>
            <a:ext cx="5637276" cy="88239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Displacement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Straight line distance and direction from start to finish.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0196" y="2061972"/>
            <a:ext cx="5637276" cy="88239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travelled per unit time.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35808"/>
          <a:ext cx="6251296" cy="914400"/>
        </p:xfrm>
        <a:graphic>
          <a:graphicData uri="http://schemas.openxmlformats.org/drawingml/2006/table">
            <a:tbl>
              <a:tblPr/>
              <a:tblGrid>
                <a:gridCol w="6251296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Watch for</a:t>
                      </a:r>
                      <a:endParaRPr lang="en-US" sz="2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2834640">
                <a:tc>
                  <a:txBody>
                    <a:bodyPr/>
                    <a:lstStyle/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Distance is scalar, displacement is vector.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 full lap gives zero displacement.</a:t>
                      </a:r>
                      <a:endParaRPr lang="en-US" sz="2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t">
                    <a:lnL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B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799936" y="3035808"/>
            <a:ext cx="4977536" cy="342900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[Paste image — suggested search: athletics track showing one full lap with start and finish at the same point]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SIX TERMS TO KNOW · KEY WORDS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727704" cy="264261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path length travelled.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30624" y="1088136"/>
            <a:ext cx="3727704" cy="264261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Displacement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Straight line from start to end, with direction.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9768" y="1088136"/>
            <a:ext cx="3727704" cy="264261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per unit time.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822192"/>
            <a:ext cx="3727704" cy="264261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Displacement per unit time.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30624" y="3822192"/>
            <a:ext cx="3727704" cy="264261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of change of velocity.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9768" y="3822192"/>
            <a:ext cx="3727704" cy="264261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Deceleration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 acceleration, slowing down.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88136"/>
          <a:ext cx="5591556" cy="914400"/>
        </p:xfrm>
        <a:graphic>
          <a:graphicData uri="http://schemas.openxmlformats.org/drawingml/2006/table">
            <a:tbl>
              <a:tblPr/>
              <a:tblGrid>
                <a:gridCol w="4025920"/>
                <a:gridCol w="1565636"/>
              </a:tblGrid>
              <a:tr h="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BB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CORE PAPER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Question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Pages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Define speed and give its unit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142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Calculate speed from distance and time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143 to 144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Read a distance time graph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5916" y="1088136"/>
          <a:ext cx="5591556" cy="914400"/>
        </p:xfrm>
        <a:graphic>
          <a:graphicData uri="http://schemas.openxmlformats.org/drawingml/2006/table">
            <a:tbl>
              <a:tblPr/>
              <a:tblGrid>
                <a:gridCol w="4025920"/>
                <a:gridCol w="1565636"/>
              </a:tblGrid>
              <a:tr h="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BB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CHALLENGE PAPER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Question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Pages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Compare speed and velocity for circular motion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148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Find velocity from a gradient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149 to 150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88136"/>
          <a:ext cx="11365992" cy="914400"/>
        </p:xfrm>
        <a:graphic>
          <a:graphicData uri="http://schemas.openxmlformats.org/drawingml/2006/table">
            <a:tbl>
              <a:tblPr/>
              <a:tblGrid>
                <a:gridCol w="8183514"/>
                <a:gridCol w="3182478"/>
              </a:tblGrid>
              <a:tr h="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BB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CORE PAPER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Question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Pages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Typical speeds for walking, running and cycling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145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Convert km/h into m/s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147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DISTANCE TIME GRAPH (COPY INTO YOUR BOOK)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Copy this distance time graph into your book and label all three sections.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25596" y="1682496"/>
            <a:ext cx="4937760" cy="4462272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[Paste image — suggested search: distance time graph with a straight rising section, a flat section and a steeper rising section]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6144768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ruler. Label the axes before you draw the line.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SPEED AGAINST VELOCITY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5614416" cy="384048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63056" y="1088136"/>
            <a:ext cx="5614416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527048"/>
            <a:ext cx="5614416" cy="119329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Scalar quantity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63056" y="1527048"/>
            <a:ext cx="5614416" cy="119329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quantity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775204"/>
            <a:ext cx="5614416" cy="1193292"/>
          </a:xfrm>
          <a:prstGeom prst="rect">
            <a:avLst/>
          </a:prstGeom>
          <a:solidFill>
            <a:srgbClr val="F5F5F5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 only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63056" y="2775204"/>
            <a:ext cx="5614416" cy="1193292"/>
          </a:xfrm>
          <a:prstGeom prst="rect">
            <a:avLst/>
          </a:prstGeom>
          <a:solidFill>
            <a:srgbClr val="F5F5F5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 and direction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4023360"/>
            <a:ext cx="5614416" cy="119329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positive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63056" y="4023360"/>
            <a:ext cx="5614416" cy="119329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be negative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5271516"/>
            <a:ext cx="5614416" cy="1193292"/>
          </a:xfrm>
          <a:prstGeom prst="rect">
            <a:avLst/>
          </a:prstGeom>
          <a:solidFill>
            <a:srgbClr val="F5F5F5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Unchanged by turning a corner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63056" y="5271516"/>
            <a:ext cx="5614416" cy="1193292"/>
          </a:xfrm>
          <a:prstGeom prst="rect">
            <a:avLst/>
          </a:prstGeom>
          <a:solidFill>
            <a:srgbClr val="F5F5F5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Changes when direction changes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THE SPEED EQUATION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88136"/>
            <a:ext cx="11365992" cy="91440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6118" y="1088136"/>
            <a:ext cx="112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</a:t>
            </a:r>
            <a:endParaRPr lang="en-US" sz="2800" dirty="0"/>
          </a:p>
        </p:txBody>
      </p:sp>
      <p:sp>
        <p:nvSpPr>
          <p:cNvPr id="12" name="eqFracNum"/>
          <p:cNvSpPr/>
          <p:nvPr/>
        </p:nvSpPr>
        <p:spPr>
          <a:xfrm>
            <a:off x="6406134" y="1161034"/>
            <a:ext cx="26670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2300" dirty="0"/>
          </a:p>
        </p:txBody>
      </p:sp>
      <p:sp>
        <p:nvSpPr>
          <p:cNvPr id="13" name="eqFracBar"/>
          <p:cNvSpPr/>
          <p:nvPr/>
        </p:nvSpPr>
        <p:spPr>
          <a:xfrm>
            <a:off x="6427470" y="1545336"/>
            <a:ext cx="224028" cy="0"/>
          </a:xfrm>
          <a:prstGeom prst="line">
            <a:avLst/>
          </a:prstGeom>
          <a:noFill/>
          <a:ln w="22225">
            <a:solidFill>
              <a:srgbClr val="FABB2E"/>
            </a:solidFill>
            <a:prstDash val="solid"/>
          </a:ln>
        </p:spPr>
      </p:sp>
      <p:sp>
        <p:nvSpPr>
          <p:cNvPr id="14" name="eqFracDen"/>
          <p:cNvSpPr/>
          <p:nvPr/>
        </p:nvSpPr>
        <p:spPr>
          <a:xfrm>
            <a:off x="6406134" y="1549908"/>
            <a:ext cx="26670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11480" y="2093976"/>
            <a:ext cx="3715512" cy="295351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36720" y="2093976"/>
            <a:ext cx="3715512" cy="295351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61960" y="2093976"/>
            <a:ext cx="3715512" cy="295351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5138928"/>
            <a:ext cx="5628132" cy="59436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 = v × 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9340" y="5138928"/>
            <a:ext cx="5628132" cy="59436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= </a:t>
            </a:r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⁄</a:t>
            </a:r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5824728"/>
            <a:ext cx="11365992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runner covers 400 m in 50 s. Speed = 400 ÷ 50 = 8 m/s.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TWO RELATED EQUATIONS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88136"/>
            <a:ext cx="5628132" cy="91440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1928" y="1088136"/>
            <a:ext cx="112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</a:t>
            </a:r>
            <a:endParaRPr lang="en-US" sz="2800" dirty="0"/>
          </a:p>
        </p:txBody>
      </p:sp>
      <p:sp>
        <p:nvSpPr>
          <p:cNvPr id="12" name="eqFracNum"/>
          <p:cNvSpPr/>
          <p:nvPr/>
        </p:nvSpPr>
        <p:spPr>
          <a:xfrm>
            <a:off x="3361944" y="1161034"/>
            <a:ext cx="61722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 v</a:t>
            </a:r>
            <a:endParaRPr lang="en-US" sz="2300" dirty="0"/>
          </a:p>
        </p:txBody>
      </p:sp>
      <p:sp>
        <p:nvSpPr>
          <p:cNvPr id="13" name="eqFracBar"/>
          <p:cNvSpPr/>
          <p:nvPr/>
        </p:nvSpPr>
        <p:spPr>
          <a:xfrm>
            <a:off x="3411322" y="1545336"/>
            <a:ext cx="518465" cy="0"/>
          </a:xfrm>
          <a:prstGeom prst="line">
            <a:avLst/>
          </a:prstGeom>
          <a:noFill/>
          <a:ln w="22225">
            <a:solidFill>
              <a:srgbClr val="FABB2E"/>
            </a:solidFill>
            <a:prstDash val="solid"/>
          </a:ln>
        </p:spPr>
      </p:sp>
      <p:sp>
        <p:nvSpPr>
          <p:cNvPr id="14" name="eqFracDen"/>
          <p:cNvSpPr/>
          <p:nvPr/>
        </p:nvSpPr>
        <p:spPr>
          <a:xfrm>
            <a:off x="3361944" y="1549908"/>
            <a:ext cx="617220" cy="379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149340" y="1088136"/>
            <a:ext cx="5628132" cy="91440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 = v × 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1480" y="2093976"/>
            <a:ext cx="3715512" cy="213055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36720" y="2093976"/>
            <a:ext cx="3715512" cy="213055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 v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in velocity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61960" y="2093976"/>
            <a:ext cx="3715512" cy="213055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334256"/>
            <a:ext cx="5628132" cy="213055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9340" y="4334256"/>
            <a:ext cx="5628132" cy="213055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3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PLANNING A SPEED MEASUREMENT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3978097" y="1189385"/>
                </a:moveTo>
                <a:cubicBezTo>
                  <a:pt x="4680114" y="651718"/>
                  <a:pt x="6518731" y="651718"/>
                  <a:pt x="7354465" y="1189385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9226511" y="2085497"/>
                </a:moveTo>
                <a:cubicBezTo>
                  <a:pt x="9226511" y="3421519"/>
                  <a:pt x="8524494" y="2688336"/>
                  <a:pt x="7588471" y="2688336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3844380" y="2639457"/>
                </a:moveTo>
                <a:cubicBezTo>
                  <a:pt x="2590778" y="1759638"/>
                  <a:pt x="2139481" y="2769801"/>
                  <a:pt x="2139481" y="3307468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3978097" y="4236166"/>
                </a:moveTo>
                <a:cubicBezTo>
                  <a:pt x="4680114" y="4724954"/>
                  <a:pt x="6518731" y="4724954"/>
                  <a:pt x="7354465" y="4236166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2344" y="1381409"/>
            <a:ext cx="3677233" cy="1792224"/>
          </a:xfrm>
          <a:prstGeom prst="roundRect">
            <a:avLst>
              <a:gd name="adj" fmla="val 3061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7239" y="1417985"/>
            <a:ext cx="2959187" cy="17190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the distance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tape measure, record in metres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91479" y="1584406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17" name="Text 15"/>
          <p:cNvSpPr/>
          <p:nvPr/>
        </p:nvSpPr>
        <p:spPr>
          <a:xfrm>
            <a:off x="991479" y="15844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99375" y="1381409"/>
            <a:ext cx="3677233" cy="1792224"/>
          </a:xfrm>
          <a:prstGeom prst="roundRect">
            <a:avLst>
              <a:gd name="adj" fmla="val 3061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4269" y="1417985"/>
            <a:ext cx="2959187" cy="17190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start and finish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Cones at both ends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078509" y="1584406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21" name="Text 19"/>
          <p:cNvSpPr/>
          <p:nvPr/>
        </p:nvSpPr>
        <p:spPr>
          <a:xfrm>
            <a:off x="8078509" y="15844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55860" y="2847774"/>
            <a:ext cx="3677233" cy="1857396"/>
          </a:xfrm>
          <a:prstGeom prst="roundRect">
            <a:avLst>
              <a:gd name="adj" fmla="val 2954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0754" y="2884350"/>
            <a:ext cx="2959187" cy="17842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the run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and stop on the marks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534994" y="3050771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25" name="Text 23"/>
          <p:cNvSpPr/>
          <p:nvPr/>
        </p:nvSpPr>
        <p:spPr>
          <a:xfrm>
            <a:off x="4534994" y="30507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12344" y="4428190"/>
            <a:ext cx="3677233" cy="1792224"/>
          </a:xfrm>
          <a:prstGeom prst="roundRect">
            <a:avLst>
              <a:gd name="adj" fmla="val 3061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7239" y="4464766"/>
            <a:ext cx="2959187" cy="17190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three times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random error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991479" y="4631187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29" name="Text 27"/>
          <p:cNvSpPr/>
          <p:nvPr/>
        </p:nvSpPr>
        <p:spPr>
          <a:xfrm>
            <a:off x="991479" y="463118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99375" y="4428190"/>
            <a:ext cx="3677233" cy="1792224"/>
          </a:xfrm>
          <a:prstGeom prst="roundRect">
            <a:avLst>
              <a:gd name="adj" fmla="val 3061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4269" y="4464766"/>
            <a:ext cx="2959187" cy="17190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the mean speed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distance over mean time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8078509" y="4631187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33" name="Text 31"/>
          <p:cNvSpPr/>
          <p:nvPr/>
        </p:nvSpPr>
        <p:spPr>
          <a:xfrm>
            <a:off x="8078509" y="463118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TWO STEP 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66460" y="3648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" y="1216152"/>
            <a:ext cx="5426964" cy="512064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distance</a:t>
            </a:r>
            <a:endParaRPr lang="en-US" sz="1300" dirty="0"/>
          </a:p>
          <a:p>
            <a:pPr algn="ctr" indent="0" marL="0">
              <a:buNone/>
            </a:pPr>
            <a:r>
              <a:rPr lang="en-US" sz="19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it from the question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22492" y="1216152"/>
            <a:ext cx="5426964" cy="512064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 by the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9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the unit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FULL INVESTIGATION CYCLE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4379250" y="777097"/>
                </a:moveTo>
                <a:cubicBezTo>
                  <a:pt x="5432276" y="525066"/>
                  <a:pt x="5933716" y="525066"/>
                  <a:pt x="6986742" y="777097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9092794" y="1428179"/>
                </a:moveTo>
                <a:cubicBezTo>
                  <a:pt x="9527376" y="1627703"/>
                  <a:pt x="9527376" y="1816727"/>
                  <a:pt x="9092794" y="2037255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6986742" y="2688336"/>
                </a:moveTo>
                <a:cubicBezTo>
                  <a:pt x="5933716" y="2919365"/>
                  <a:pt x="5432276" y="2919365"/>
                  <a:pt x="4379250" y="2688336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2273198" y="3339417"/>
                </a:moveTo>
                <a:cubicBezTo>
                  <a:pt x="1838616" y="3538942"/>
                  <a:pt x="1838616" y="3748969"/>
                  <a:pt x="2273198" y="3948494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" y="1088136"/>
            <a:ext cx="11365992" cy="5376672"/>
          </a:xfrm>
          <a:custGeom>
            <a:avLst/>
            <a:gdLst/>
            <a:ahLst/>
            <a:cxnLst/>
            <a:rect l="l" t="t" r="r" b="b"/>
            <a:pathLst>
              <a:path w="11365992" h="5376672">
                <a:moveTo>
                  <a:pt x="4379250" y="4599575"/>
                </a:moveTo>
                <a:cubicBezTo>
                  <a:pt x="5432276" y="4358045"/>
                  <a:pt x="5933716" y="4358045"/>
                  <a:pt x="6986742" y="4599575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8627" y="1214152"/>
            <a:ext cx="4212103" cy="1302163"/>
          </a:xfrm>
          <a:prstGeom prst="roundRect">
            <a:avLst>
              <a:gd name="adj" fmla="val 4213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3521" y="1250728"/>
            <a:ext cx="3494057" cy="122901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a question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affects speed?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57761" y="1289733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61" y="128973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98222" y="1214152"/>
            <a:ext cx="4212103" cy="1302163"/>
          </a:xfrm>
          <a:prstGeom prst="roundRect">
            <a:avLst>
              <a:gd name="adj" fmla="val 4213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3116" y="1250728"/>
            <a:ext cx="3494057" cy="122901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the expected pattern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677356" y="1289733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22" name="Text 20"/>
          <p:cNvSpPr/>
          <p:nvPr/>
        </p:nvSpPr>
        <p:spPr>
          <a:xfrm>
            <a:off x="7677356" y="128973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98222" y="3125391"/>
            <a:ext cx="4212103" cy="1302163"/>
          </a:xfrm>
          <a:prstGeom prst="roundRect">
            <a:avLst>
              <a:gd name="adj" fmla="val 4213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3116" y="3161967"/>
            <a:ext cx="3494057" cy="122901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variables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677356" y="3200972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26" name="Text 24"/>
          <p:cNvSpPr/>
          <p:nvPr/>
        </p:nvSpPr>
        <p:spPr>
          <a:xfrm>
            <a:off x="7677356" y="3200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78627" y="3125391"/>
            <a:ext cx="4212103" cy="1302163"/>
          </a:xfrm>
          <a:prstGeom prst="roundRect">
            <a:avLst>
              <a:gd name="adj" fmla="val 4213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3521" y="3161967"/>
            <a:ext cx="3494057" cy="122901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readings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57761" y="3200972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30" name="Text 28"/>
          <p:cNvSpPr/>
          <p:nvPr/>
        </p:nvSpPr>
        <p:spPr>
          <a:xfrm>
            <a:off x="857761" y="3200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78627" y="5036630"/>
            <a:ext cx="4212103" cy="1302163"/>
          </a:xfrm>
          <a:prstGeom prst="roundRect">
            <a:avLst>
              <a:gd name="adj" fmla="val 4213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23521" y="5073206"/>
            <a:ext cx="3494057" cy="122901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 the graph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857761" y="5112210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34" name="Text 32"/>
          <p:cNvSpPr/>
          <p:nvPr/>
        </p:nvSpPr>
        <p:spPr>
          <a:xfrm>
            <a:off x="857761" y="51122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398222" y="5036630"/>
            <a:ext cx="4212103" cy="1302163"/>
          </a:xfrm>
          <a:prstGeom prst="roundRect">
            <a:avLst>
              <a:gd name="adj" fmla="val 4213"/>
            </a:avLst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3116" y="5073206"/>
            <a:ext cx="3494057" cy="122901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Conclude</a:t>
            </a:r>
            <a:endParaRPr lang="en-US" sz="19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the question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7677356" y="5112210"/>
            <a:ext cx="310896" cy="310896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38" name="Text 36"/>
          <p:cNvSpPr/>
          <p:nvPr/>
        </p:nvSpPr>
        <p:spPr>
          <a:xfrm>
            <a:off x="7677356" y="51122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VIDEO · MEASURING SPEED WITH LIGHT GATES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636495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</a:t>
            </a:r>
            <a:pPr algn="l" indent="0" marL="0">
              <a:buNone/>
            </a:pPr>
            <a:r>
              <a:rPr lang="en-US" sz="1300" u="sng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a light gate measures speed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682496"/>
            <a:ext cx="6364956" cy="41879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While watching: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What the light gate actually measures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Why the card length matters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One reason a light gate beats a stopwatch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5961888"/>
            <a:ext cx="636495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⏸  Pause at 1:20 and predict what happens if the card is twice as long.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13596" y="1088136"/>
            <a:ext cx="4863876" cy="5376672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[Paste image — suggested search: light gate and trolley on a ramp in a school laboratory]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VIDEO QUESTIONS: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101498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53896"/>
            <a:ext cx="3978097" cy="247802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light gate time?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453896"/>
            <a:ext cx="7314743" cy="247802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long the card blocks the beam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986784"/>
            <a:ext cx="3978097" cy="247802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a light gate more precise than a stopwatch?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62729" y="3986784"/>
            <a:ext cx="7314743" cy="247802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 is no human reaction time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FROM MEASUREMENT TO ANSWER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84678" y="1088136"/>
            <a:ext cx="6819595" cy="113842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distance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4476" y="2253996"/>
            <a:ext cx="0" cy="219456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84678" y="2500884"/>
            <a:ext cx="6819595" cy="113842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76" y="3666744"/>
            <a:ext cx="0" cy="219456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684678" y="3913632"/>
            <a:ext cx="6819595" cy="113842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over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4476" y="5079492"/>
            <a:ext cx="0" cy="219456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684678" y="5326380"/>
            <a:ext cx="6819595" cy="113842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the unit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81758" y="1088136"/>
            <a:ext cx="7322515" cy="5376672"/>
          </a:xfrm>
          <a:custGeom>
            <a:avLst/>
            <a:gdLst/>
            <a:ahLst/>
            <a:cxnLst/>
            <a:rect l="l" t="t" r="r" b="b"/>
            <a:pathLst>
              <a:path w="7322515" h="5376672">
                <a:moveTo>
                  <a:pt x="502920" y="4807458"/>
                </a:moveTo>
                <a:cubicBezTo>
                  <a:pt x="0" y="4807458"/>
                  <a:pt x="0" y="569214"/>
                  <a:pt x="502920" y="569214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11480" y="67391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continues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JOURNEY STAGES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862072"/>
            <a:ext cx="2635758" cy="182880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rising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83814" y="3776472"/>
            <a:ext cx="201168" cy="0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21558" y="2862072"/>
            <a:ext cx="2635758" cy="182880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Cruise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constant speed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93892" y="3776472"/>
            <a:ext cx="201168" cy="0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231636" y="2862072"/>
            <a:ext cx="2635758" cy="182880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Decelerate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falling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03970" y="3776472"/>
            <a:ext cx="201168" cy="0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1714" y="2862072"/>
            <a:ext cx="2635758" cy="182880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zero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29359" y="2450592"/>
            <a:ext cx="8730234" cy="411480"/>
          </a:xfrm>
          <a:custGeom>
            <a:avLst/>
            <a:gdLst/>
            <a:ahLst/>
            <a:cxnLst/>
            <a:rect l="l" t="t" r="r" b="b"/>
            <a:pathLst>
              <a:path w="8730234" h="411480">
                <a:moveTo>
                  <a:pt x="8730234" y="411480"/>
                </a:moveTo>
                <a:cubicBezTo>
                  <a:pt x="8730234" y="0"/>
                  <a:pt x="0" y="0"/>
                  <a:pt x="0" y="411480"/>
                </a:cubicBezTo>
              </a:path>
            </a:pathLst>
          </a:cu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11480" y="472744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READING A DISTANCE TIME GRAPH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5910316" cy="292608"/>
          </a:xfrm>
          <a:prstGeom prst="rect">
            <a:avLst/>
          </a:prstGeom>
          <a:solidFill>
            <a:srgbClr val="F0F4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(m)</a:t>
            </a:r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│  </a:t>
            </a:r>
            <a:pPr algn="l" indent="0" marL="0">
              <a:buNone/>
            </a:pPr>
            <a:r>
              <a:rPr lang="en-US" sz="11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26464"/>
            <a:ext cx="5910316" cy="5038344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[Paste image — suggested search: distance time graph with three distinct gradients]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58956" y="1490472"/>
            <a:ext cx="5318516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Steep line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Fast, large distance in a short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8956" y="3044952"/>
            <a:ext cx="5318516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Shallow line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Slow, small distance in the same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58956" y="4599432"/>
            <a:ext cx="5318516" cy="1463040"/>
          </a:xfrm>
          <a:prstGeom prst="rect">
            <a:avLst/>
          </a:prstGeom>
          <a:solidFill>
            <a:srgbClr val="F0F4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 line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Stationary, distance is not changing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· MEASURING SPEED THROUGH HISTORY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749040"/>
            <a:ext cx="11365992" cy="54864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11" name="Shape 9"/>
          <p:cNvSpPr/>
          <p:nvPr/>
        </p:nvSpPr>
        <p:spPr>
          <a:xfrm>
            <a:off x="1813941" y="3372673"/>
            <a:ext cx="36576" cy="376367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3357" y="3657600"/>
            <a:ext cx="237744" cy="237744"/>
          </a:xfrm>
          <a:prstGeom prst="ellipse">
            <a:avLst/>
          </a:prstGeom>
          <a:solidFill>
            <a:srgbClr val="FABB2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949" y="1146731"/>
            <a:ext cx="2194560" cy="222594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1590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Galileo's ramps</a:t>
            </a:r>
            <a:endParaRPr lang="en-US" sz="13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Timed balls with a water clock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5439" y="3803904"/>
            <a:ext cx="36576" cy="376367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4855" y="3657600"/>
            <a:ext cx="237744" cy="237744"/>
          </a:xfrm>
          <a:prstGeom prst="ellipse">
            <a:avLst/>
          </a:prstGeom>
          <a:solidFill>
            <a:srgbClr val="FABB2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6447" y="4180271"/>
            <a:ext cx="2194560" cy="222594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1849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Fizeau's wheel</a:t>
            </a:r>
            <a:endParaRPr lang="en-US" sz="13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good measurement of light speed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76447" y="1652138"/>
            <a:ext cx="2194560" cy="1720535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[Paste image — suggested search: Fizeau toothed wheel apparatus diagram]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6937" y="3372673"/>
            <a:ext cx="36576" cy="376367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96353" y="3657600"/>
            <a:ext cx="237744" cy="237744"/>
          </a:xfrm>
          <a:prstGeom prst="ellipse">
            <a:avLst/>
          </a:prstGeom>
          <a:solidFill>
            <a:srgbClr val="FABB2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7945" y="1146731"/>
            <a:ext cx="2194560" cy="222594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1958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Radar guns</a:t>
            </a:r>
            <a:endParaRPr lang="en-US" sz="13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from a frequency shift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338435" y="3803904"/>
            <a:ext cx="36576" cy="376367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37851" y="3657600"/>
            <a:ext cx="237744" cy="237744"/>
          </a:xfrm>
          <a:prstGeom prst="ellipse">
            <a:avLst/>
          </a:prstGeom>
          <a:solidFill>
            <a:srgbClr val="FABB2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9443" y="4180271"/>
            <a:ext cx="2194560" cy="222594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timing</a:t>
            </a:r>
            <a:endParaRPr lang="en-US" sz="13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from satellite clocks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CHECK YOUR UNDERSTANDING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82296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car travels 240 m in 12 s. What is its average speed?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5614416" cy="1522476"/>
          </a:xfrm>
          <a:prstGeom prst="rect">
            <a:avLst/>
          </a:prstGeom>
          <a:solidFill>
            <a:srgbClr val="FCE4EC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m/s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63056" y="1984248"/>
            <a:ext cx="5614416" cy="1522476"/>
          </a:xfrm>
          <a:prstGeom prst="rect">
            <a:avLst/>
          </a:prstGeom>
          <a:solidFill>
            <a:srgbClr val="E3F2FD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m/s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616452"/>
            <a:ext cx="5614416" cy="1522476"/>
          </a:xfrm>
          <a:prstGeom prst="rect">
            <a:avLst/>
          </a:prstGeom>
          <a:solidFill>
            <a:srgbClr val="E8F5E9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 m/s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3616452"/>
            <a:ext cx="5614416" cy="1522476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2880 m/s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5230368"/>
            <a:ext cx="11365992" cy="36576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(silent)   →   DECIDE   →   SHOW on 3 – 2 –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5687568"/>
            <a:ext cx="11365992" cy="77724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Answer: B  ·  </a:t>
            </a:r>
            <a:pPr algn="l" indent="0" marL="0">
              <a:buNone/>
            </a:pPr>
            <a:r>
              <a:rPr lang="en-US" sz="18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240 ÷ 12 = 20 m/s. Dividing the wrong way round gives 0.05 m/s.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A1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1796796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IPEVO Visualiser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0" y="2802636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answers under the visualiser · Reference A Learn Variants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2514" y="3351276"/>
            <a:ext cx="6703924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https://apps.ipevo.com/pwa/visualizer.app/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128516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 Click to open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· CHOOSE YOUR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82712" y="649224"/>
            <a:ext cx="4114800" cy="347472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more — AQA Physics (Kerboodle), pp. 134–146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088136"/>
            <a:ext cx="3697224" cy="384048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the unit of speed.  [1 mark]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197352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equation linking speed, distance and time.  [1 mark]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867656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walker covers 60 m in 30 s. Calculate the speed.  [2 marks]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45864" y="1088136"/>
            <a:ext cx="3697224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45864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velocity is a vector but speed is not.  [2 marks]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45864" y="3197352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cyclist rides 1500 m in 300 s. Calculate the speed.  [2 marks]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45864" y="4867656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what a flat section on a distance time graph shows.  [2 marks]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80248" y="1088136"/>
            <a:ext cx="3697224" cy="384048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80248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runner completes one 400 m lap in 50 s. Calculate the average speed and the average velocity.  [4 marks]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80248" y="3197352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a car moving at constant speed around a roundabout has a changing velocity.  [3 marks]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80248" y="4867656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 72 km/h into m/s and show your working.  [3 marks]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DEVELOPING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the unit of speed.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 (m/s)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equation linking speed, distance and time.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62729" y="3099816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= distance ÷ time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4809744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walker covers 60 m in 30 s. Calculate the speed.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729" y="4809744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m/s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REACHING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1655064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velocity is a vector but speed is not.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states a direction as well as a size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978097" cy="1655064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cyclist rides 1500 m in 300 s. Calculate the speed.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62729" y="3099816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m/s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4809744"/>
            <a:ext cx="3978097" cy="1655064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what a flat section on a distance time graph shows.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729" y="4809744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object is stationary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MASTERING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1655064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runner completes one 400 m lap in 50 s. Calculate the average speed and the average velocity.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8 m/s. Velocity 0 m/s because displacement is zero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978097" cy="1655064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a car moving at constant speed around a roundabout has a changing velocity.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62729" y="3099816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 changes continuously, and velocity depends on direction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4809744"/>
            <a:ext cx="3978097" cy="1655064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 72 km/h into m/s and show your working.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729" y="4809744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72000 ÷ 3600 = 20 m/s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speed is calculated from distance and time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BANK — sources and assets used in this lesson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pic>
        <p:nvPicPr>
          <p:cNvPr id="4" name="Image 0" descr="C:/Users/magda/claude-projects/science-lesson-v4/topbar-bio-1-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85216"/>
            <a:ext cx="11274552" cy="5559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18134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2026-10-02T21:20:07Z</dcterms:created>
  <dcterms:modified xsi:type="dcterms:W3CDTF">2026-10-02T21:20:07Z</dcterms:modified>
</cp:coreProperties>
</file>