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fonts/font1.fntdata" ContentType="application/x-fontdata"/>
  <Override PartName="/ppt/fonts/font2.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embeddedFontLst>
    <p:embeddedFont>
      <p:font typeface="Caveat"/>
      <p:regular r:id="rId22"/>
      <p:bold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s.ipevo.com/pwa/visualizer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713232"/>
            <a:ext cx="3976543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 C: marking and review slides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11480" y="2221992"/>
            <a:ext cx="39765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Year 10  ·  Chemistry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606040"/>
            <a:ext cx="3976543" cy="231343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Objectives: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Mark exam answers accurately against a mark scheme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5029200"/>
            <a:ext cx="3976543" cy="109728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Words: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indicative content  ·  level of response  ·  error carried forward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61175" y="713232"/>
            <a:ext cx="11887" cy="5413248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14" name="Text 12"/>
          <p:cNvSpPr/>
          <p:nvPr/>
        </p:nvSpPr>
        <p:spPr>
          <a:xfrm>
            <a:off x="4625767" y="713232"/>
            <a:ext cx="7151705" cy="365760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25767" y="13647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6" name="Text 14"/>
          <p:cNvSpPr/>
          <p:nvPr/>
        </p:nvSpPr>
        <p:spPr>
          <a:xfrm>
            <a:off x="4625767" y="13647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8687" y="11704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ECF stand for?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625767" y="221056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9" name="Text 17"/>
          <p:cNvSpPr/>
          <p:nvPr/>
        </p:nvSpPr>
        <p:spPr>
          <a:xfrm>
            <a:off x="4625767" y="22105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28687" y="201625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many marks is a level of response question usually worth?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4625767" y="305638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2" name="Text 20"/>
          <p:cNvSpPr/>
          <p:nvPr/>
        </p:nvSpPr>
        <p:spPr>
          <a:xfrm>
            <a:off x="4625767" y="305638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128687" y="286207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indicative content?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4625767" y="390220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5" name="Text 23"/>
          <p:cNvSpPr/>
          <p:nvPr/>
        </p:nvSpPr>
        <p:spPr>
          <a:xfrm>
            <a:off x="4625767" y="390220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128687" y="370789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must units be given in a calculation answer?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4625767" y="474802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8" name="Text 26"/>
          <p:cNvSpPr/>
          <p:nvPr/>
        </p:nvSpPr>
        <p:spPr>
          <a:xfrm>
            <a:off x="4625767" y="474802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128687" y="455371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'do not accept' mean on a mark scheme?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4625767" y="55938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31" name="Text 29"/>
          <p:cNvSpPr/>
          <p:nvPr/>
        </p:nvSpPr>
        <p:spPr>
          <a:xfrm>
            <a:off x="4625767" y="55938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28687" y="53995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one thing that never earns a mark.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0" y="62453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Silent start · pen out · attempt all questions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ECF stand for?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462729" y="1088136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 carried forward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11480" y="1996440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many marks is a level of response question usually worth?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62729" y="1996440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1480" y="2904744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indicative content?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462729" y="2904744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marking points an answer could contain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11480" y="3813048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must units be given in a calculation answer?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462729" y="3813048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final mark is usually for the unit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11480" y="4721352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'do not accept' mean on a mark scheme?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462729" y="4721352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That wording scores zero even if the rest is right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11480" y="5629656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one thing that never earns a mark.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4462729" y="5629656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Repeating the question wording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88136"/>
          <a:ext cx="5591556" cy="914400"/>
        </p:xfrm>
        <a:graphic>
          <a:graphicData uri="http://schemas.openxmlformats.org/drawingml/2006/table">
            <a:tbl>
              <a:tblPr/>
              <a:tblGrid>
                <a:gridCol w="4025920"/>
                <a:gridCol w="1565636"/>
              </a:tblGrid>
              <a:tr h="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ABB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CORE PAPER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Question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Pages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Rate of reaction definition and units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180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Collision theory explanation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182 to 183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5916" y="1088136"/>
          <a:ext cx="5591556" cy="914400"/>
        </p:xfrm>
        <a:graphic>
          <a:graphicData uri="http://schemas.openxmlformats.org/drawingml/2006/table">
            <a:tbl>
              <a:tblPr/>
              <a:tblGrid>
                <a:gridCol w="4025920"/>
                <a:gridCol w="1565636"/>
              </a:tblGrid>
              <a:tr h="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ABB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CHALLENGE PAPER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Question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Pages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Tangent method for rate at an instant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186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MODEL ANSWER — Q3.2  [6 marks]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1088136"/>
            <a:ext cx="5455676" cy="537667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 rot="-108000">
            <a:off x="539496" y="1208837"/>
            <a:ext cx="16002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Powder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 rot="72000">
            <a:off x="2011680" y="1184148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has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 rot="-90000">
            <a:off x="2770632" y="1206094"/>
            <a:ext cx="41148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 rot="108000">
            <a:off x="3054096" y="1186891"/>
            <a:ext cx="16002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bigger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 rot="-54000">
            <a:off x="539496" y="1730045"/>
            <a:ext cx="1837944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surface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 rot="90000">
            <a:off x="2249424" y="1705356"/>
            <a:ext cx="1362456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area.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 rot="-36000">
            <a:off x="3483864" y="1724558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More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 rot="-108000">
            <a:off x="4480560" y="1724558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acid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 rot="72000">
            <a:off x="539496" y="2215591"/>
            <a:ext cx="231343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particles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 rot="-90000">
            <a:off x="2724912" y="2237537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can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 rot="108000">
            <a:off x="3483864" y="2218334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hit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 rot="-54000">
            <a:off x="4242816" y="2245766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 rot="90000">
            <a:off x="539496" y="2736799"/>
            <a:ext cx="16002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marble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 rot="-36000">
            <a:off x="2011680" y="2756002"/>
            <a:ext cx="649224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at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 rot="-108000">
            <a:off x="2532888" y="2756002"/>
            <a:ext cx="1362456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once.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 rot="72000">
            <a:off x="3767328" y="2731313"/>
            <a:ext cx="649224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So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 rot="-90000">
            <a:off x="539496" y="3268980"/>
            <a:ext cx="2551176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collisions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 rot="108000">
            <a:off x="2962656" y="3249778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are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 rot="-54000">
            <a:off x="3721608" y="3277210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more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 rot="90000">
            <a:off x="539496" y="3768242"/>
            <a:ext cx="231343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frequent.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 rot="-36000">
            <a:off x="2724912" y="3787445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Rate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 rot="-108000">
            <a:off x="3721608" y="3787445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goes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 rot="72000">
            <a:off x="4718304" y="3762756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up.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 rot="-90000">
            <a:off x="539496" y="4300423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Same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 rot="108000">
            <a:off x="1536192" y="4281221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mass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 rot="-54000">
            <a:off x="2532888" y="4308653"/>
            <a:ext cx="649224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of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 rot="90000">
            <a:off x="3054096" y="4283964"/>
            <a:ext cx="16002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marble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 rot="-36000">
            <a:off x="4526280" y="4303166"/>
            <a:ext cx="649224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so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 rot="-108000">
            <a:off x="539496" y="4818888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 rot="72000">
            <a:off x="1298448" y="4794199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same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 rot="-90000">
            <a:off x="2295144" y="4816145"/>
            <a:ext cx="1362456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total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 rot="108000">
            <a:off x="3529584" y="4796942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gas.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 rot="-54000">
            <a:off x="4526280" y="4824374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 rot="90000">
            <a:off x="539496" y="5315407"/>
            <a:ext cx="1362456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curve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 rot="-36000">
            <a:off x="1773936" y="5334610"/>
            <a:ext cx="649224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is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 rot="-108000">
            <a:off x="2295144" y="5334610"/>
            <a:ext cx="1837944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steeper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 rot="72000">
            <a:off x="4005072" y="5309921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but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 rot="-90000">
            <a:off x="539496" y="5847588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ends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 rot="108000">
            <a:off x="1536192" y="5828386"/>
            <a:ext cx="649224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at</a:t>
            </a:r>
            <a:endParaRPr lang="en-US" sz="2600" dirty="0"/>
          </a:p>
        </p:txBody>
      </p:sp>
      <p:sp>
        <p:nvSpPr>
          <p:cNvPr id="50" name="Text 48"/>
          <p:cNvSpPr/>
          <p:nvPr/>
        </p:nvSpPr>
        <p:spPr>
          <a:xfrm rot="-54000">
            <a:off x="2057400" y="5855818"/>
            <a:ext cx="886968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 rot="90000">
            <a:off x="2816352" y="5831129"/>
            <a:ext cx="1124712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same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 rot="-36000">
            <a:off x="3813048" y="5850331"/>
            <a:ext cx="1837944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height.</a:t>
            </a:r>
            <a:endParaRPr lang="en-US" sz="2600" dirty="0"/>
          </a:p>
        </p:txBody>
      </p:sp>
      <p:sp>
        <p:nvSpPr>
          <p:cNvPr id="53" name="Shape 51"/>
          <p:cNvSpPr/>
          <p:nvPr/>
        </p:nvSpPr>
        <p:spPr>
          <a:xfrm>
            <a:off x="539496" y="1713586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39496" y="2229307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39496" y="2745029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9496" y="3260750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9496" y="3776472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39496" y="4292194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9496" y="4807915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39496" y="5323637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9496" y="5839358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9496" y="6355080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958596" y="1088136"/>
            <a:ext cx="5818876" cy="537667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INDICATIVE CONTENT</a:t>
            </a:r>
            <a:endParaRPr lang="en-US" sz="12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 AREA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powder has a larger </a:t>
            </a:r>
            <a:pPr algn="l" indent="0" marL="0">
              <a:spcAft>
                <a:spcPts val="400"/>
              </a:spcAft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 area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particles are </a:t>
            </a:r>
            <a:pPr algn="l" indent="0" marL="0"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exposed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to the acid</a:t>
            </a:r>
            <a:endParaRPr lang="en-US" sz="12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COLLISION THEORY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collisions are more </a:t>
            </a:r>
            <a:pPr algn="l" indent="0" marL="0">
              <a:spcAft>
                <a:spcPts val="400"/>
              </a:spcAft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frequent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the </a:t>
            </a:r>
            <a:pPr algn="l" indent="0" marL="0"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increases</a:t>
            </a:r>
            <a:pPr algn="l"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(dependent on MP3)</a:t>
            </a:r>
            <a:endParaRPr lang="en-US" sz="12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YIELD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same mass of marble is used </a:t>
            </a:r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the same volume of acid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the final volume of gas is </a:t>
            </a:r>
            <a:pPr algn="l" indent="0" marL="0">
              <a:spcAft>
                <a:spcPts val="400"/>
              </a:spcAft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unchanged</a:t>
            </a:r>
            <a:endParaRPr lang="en-US" sz="12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12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3 (5 to 6 marks):  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Links surface area to collision frequency and to the unchanged yield</a:t>
            </a:r>
            <a:endParaRPr lang="en-US" sz="12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2 (3 to 4 marks):  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Links surface area to rate but not to yield</a:t>
            </a:r>
            <a:endParaRPr lang="en-US" sz="12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1 (1 to 2 marks):  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States powder is faster with no mechanism</a:t>
            </a:r>
            <a:endParaRPr lang="en-US" sz="12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8A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EXCLUSIONARY CLAIMS</a:t>
            </a:r>
            <a:endParaRPr lang="en-US" sz="12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FCD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powder has more energy</a:t>
            </a:r>
            <a:endParaRPr lang="en-US" sz="12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FCD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the particles get smaller so they react more</a:t>
            </a:r>
            <a:endParaRPr lang="en-US" sz="12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FCD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more product is made with powder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MODEL ANSWER — Q4.1  [3 marks]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1088136"/>
            <a:ext cx="5455676" cy="537667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 rot="-36000">
            <a:off x="539496" y="1197864"/>
            <a:ext cx="1051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rate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 rot="18000">
            <a:off x="1463040" y="1203350"/>
            <a:ext cx="3931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=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 rot="-18000">
            <a:off x="1728216" y="1192378"/>
            <a:ext cx="3931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V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 rot="36000">
            <a:off x="1993392" y="1200607"/>
            <a:ext cx="3931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÷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258568" y="1195121"/>
            <a:ext cx="3931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 rot="-36000">
            <a:off x="539496" y="2331720"/>
            <a:ext cx="1051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rate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 rot="18000">
            <a:off x="1463040" y="2337206"/>
            <a:ext cx="3931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=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 rot="-18000">
            <a:off x="1728216" y="2326234"/>
            <a:ext cx="6126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48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 rot="36000">
            <a:off x="2212848" y="2334463"/>
            <a:ext cx="3931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÷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2478024" y="2328977"/>
            <a:ext cx="6126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60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 rot="-36000">
            <a:off x="539496" y="3465576"/>
            <a:ext cx="1051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rate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 rot="18000">
            <a:off x="1463040" y="3471062"/>
            <a:ext cx="3931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=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 rot="-18000">
            <a:off x="1728216" y="3460090"/>
            <a:ext cx="83210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0.8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 rot="36000">
            <a:off x="2432304" y="3468319"/>
            <a:ext cx="12710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cm³/s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539496" y="2331720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9496" y="3465576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9496" y="4599432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9496" y="5733288"/>
            <a:ext cx="5153924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58596" y="1088136"/>
            <a:ext cx="5818876" cy="537667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INDICATIVE CONTENT</a:t>
            </a:r>
            <a:endParaRPr lang="en-US" sz="12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SUBSTITUTION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 equation stated or implied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 substitution 48 ÷ 60</a:t>
            </a:r>
            <a:endParaRPr lang="en-US" sz="12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0.8 with unit cm³/s</a:t>
            </a:r>
            <a:endParaRPr lang="en-US" sz="12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ECF:  </a:t>
            </a:r>
            <a:pPr algn="l" indent="0" marL="0">
              <a:buNone/>
            </a:pPr>
            <a:r>
              <a:rPr lang="en-US" sz="11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arithmetic slip after correct substitution still earns the substitution mark and the unit mark.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MODEL ANSWER — Q4.3  [4 marks]</a:t>
            </a:r>
            <a:endParaRPr lang="en-US" sz="1300" dirty="0"/>
          </a:p>
        </p:txBody>
      </p:sp>
      <p:pic>
        <p:nvPicPr>
          <p:cNvPr id="10" name="Image 0" descr="C:\Users\magda\AppData\Local\Temp\gg_out_178847703797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88136"/>
            <a:ext cx="5455676" cy="53766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58596" y="1088136"/>
            <a:ext cx="5818876" cy="537667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INDICATIVE CONTENT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axes labelled with </a:t>
            </a:r>
            <a:pPr algn="l" indent="0" marL="0">
              <a:spcAft>
                <a:spcPts val="400"/>
              </a:spcAft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quantity and unit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 linear scales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points plotted accurately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smooth curve of best fit, </a:t>
            </a:r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dot to dot</a:t>
            </a:r>
            <a:endParaRPr lang="en-US" sz="12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8A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EXCLUSIONARY CLAIMS</a:t>
            </a:r>
            <a:endParaRPr lang="en-US" sz="12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FCD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points joined with straight lines</a:t>
            </a:r>
            <a:endParaRPr lang="en-US" sz="12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FCD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line forced through the origin at the expense of fit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MARK THE ANSWERS — Q5  [6 marks]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  </a:t>
            </a:r>
            <a:pPr algn="l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how increasing the concentration of the acid changes the rate of reaction.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728216"/>
            <a:ext cx="11365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each answer against the mark scheme. Give it a level and a mark out of 6.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2039112"/>
            <a:ext cx="4773717" cy="442569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INDICATIVE CONTENT</a:t>
            </a:r>
            <a:endParaRPr lang="en-US" sz="13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acid particles in the same </a:t>
            </a:r>
            <a:pPr algn="l" indent="0" marL="0">
              <a:spcAft>
                <a:spcPts val="400"/>
              </a:spcAft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volume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particles are closer together</a:t>
            </a:r>
            <a:endParaRPr lang="en-US" sz="13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COLLISION THEORY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collisions are more </a:t>
            </a:r>
            <a:pPr algn="l" indent="0" marL="0">
              <a:spcAft>
                <a:spcPts val="400"/>
              </a:spcAft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frequent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successful collisions per second</a:t>
            </a:r>
            <a:endParaRPr lang="en-US" sz="13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OUTCOME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the </a:t>
            </a:r>
            <a:pPr algn="l" indent="0" marL="0"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increases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total gas produced is unchanged </a:t>
            </a:r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unless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acid is limiting</a:t>
            </a:r>
            <a:endParaRPr lang="en-US" sz="13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3 (5 to 6):  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collision theory link with correct use of frequency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2 (3 to 4):  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 collision theory, imprecise language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1 (1 to 2):  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States the rate increases with no mechanism</a:t>
            </a:r>
            <a:endParaRPr lang="en-US" sz="13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8A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EXCLUSIONARY CLAIMS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FCD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the particles have more energy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FCD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the collisions are harder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76637" y="2039112"/>
            <a:ext cx="6500835" cy="237744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 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76637" y="2276856"/>
            <a:ext cx="6500835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 rot="-72000">
            <a:off x="5404653" y="2392070"/>
            <a:ext cx="10424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There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 rot="54000">
            <a:off x="6319053" y="2378354"/>
            <a:ext cx="5212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 rot="-36000">
            <a:off x="6712245" y="2397557"/>
            <a:ext cx="868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more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 rot="72000">
            <a:off x="7452909" y="2381098"/>
            <a:ext cx="868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acid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 rot="-18000">
            <a:off x="8193573" y="2394814"/>
            <a:ext cx="5212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so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 rot="36000">
            <a:off x="8586765" y="2375611"/>
            <a:ext cx="5212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 rot="-72000">
            <a:off x="8979957" y="2392070"/>
            <a:ext cx="868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goes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 rot="54000">
            <a:off x="9720621" y="237835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faster.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 rot="-36000">
            <a:off x="10982493" y="2397557"/>
            <a:ext cx="6949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 rot="72000">
            <a:off x="5404653" y="286573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particles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 rot="-18000">
            <a:off x="7013997" y="2879446"/>
            <a:ext cx="868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bump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 rot="36000">
            <a:off x="7754661" y="2860243"/>
            <a:ext cx="10424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more.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5404653" y="2871216"/>
            <a:ext cx="6199083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04653" y="3355848"/>
            <a:ext cx="6199083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76637" y="3538728"/>
            <a:ext cx="6500835" cy="237744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 B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276637" y="3776472"/>
            <a:ext cx="6500835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 rot="-162000">
            <a:off x="5404653" y="3902659"/>
            <a:ext cx="868680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More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 rot="108000">
            <a:off x="6145317" y="3866998"/>
            <a:ext cx="1737360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particles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 rot="-126000">
            <a:off x="7754661" y="3899916"/>
            <a:ext cx="521208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 rot="144000">
            <a:off x="8147853" y="3869741"/>
            <a:ext cx="694944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 rot="-90000">
            <a:off x="8714781" y="3908146"/>
            <a:ext cx="868680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same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 rot="126000">
            <a:off x="9455445" y="3875227"/>
            <a:ext cx="1216152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volume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 rot="-144000">
            <a:off x="10543581" y="3905402"/>
            <a:ext cx="521208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so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 rot="72000">
            <a:off x="5404653" y="4246499"/>
            <a:ext cx="868680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they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 rot="-162000">
            <a:off x="6145317" y="4276674"/>
            <a:ext cx="694944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are</a:t>
            </a:r>
            <a:endParaRPr lang="en-US" sz="1900" dirty="0"/>
          </a:p>
        </p:txBody>
      </p:sp>
      <p:sp>
        <p:nvSpPr>
          <p:cNvPr id="40" name="Text 38"/>
          <p:cNvSpPr/>
          <p:nvPr/>
        </p:nvSpPr>
        <p:spPr>
          <a:xfrm rot="108000">
            <a:off x="6712245" y="4241013"/>
            <a:ext cx="1389888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closer.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 rot="-126000">
            <a:off x="7974117" y="4273931"/>
            <a:ext cx="868680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That</a:t>
            </a:r>
            <a:endParaRPr lang="en-US" sz="1900" dirty="0"/>
          </a:p>
        </p:txBody>
      </p:sp>
      <p:sp>
        <p:nvSpPr>
          <p:cNvPr id="42" name="Text 40"/>
          <p:cNvSpPr/>
          <p:nvPr/>
        </p:nvSpPr>
        <p:spPr>
          <a:xfrm rot="144000">
            <a:off x="8714781" y="4243756"/>
            <a:ext cx="1042416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means</a:t>
            </a:r>
            <a:endParaRPr lang="en-US" sz="1900" dirty="0"/>
          </a:p>
        </p:txBody>
      </p:sp>
      <p:sp>
        <p:nvSpPr>
          <p:cNvPr id="43" name="Text 41"/>
          <p:cNvSpPr/>
          <p:nvPr/>
        </p:nvSpPr>
        <p:spPr>
          <a:xfrm rot="-90000">
            <a:off x="9629181" y="4282161"/>
            <a:ext cx="868680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more</a:t>
            </a:r>
            <a:endParaRPr lang="en-US" sz="1900" dirty="0"/>
          </a:p>
        </p:txBody>
      </p:sp>
      <p:sp>
        <p:nvSpPr>
          <p:cNvPr id="44" name="Text 42"/>
          <p:cNvSpPr/>
          <p:nvPr/>
        </p:nvSpPr>
        <p:spPr>
          <a:xfrm rot="126000">
            <a:off x="5404653" y="4623257"/>
            <a:ext cx="1911096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collisions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 rot="-144000">
            <a:off x="7187733" y="4653432"/>
            <a:ext cx="521208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so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 rot="72000">
            <a:off x="7580925" y="4620514"/>
            <a:ext cx="694944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 rot="-162000">
            <a:off x="8147853" y="4650689"/>
            <a:ext cx="868680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rate</a:t>
            </a:r>
            <a:endParaRPr lang="en-US" sz="1900" dirty="0"/>
          </a:p>
        </p:txBody>
      </p:sp>
      <p:sp>
        <p:nvSpPr>
          <p:cNvPr id="48" name="Text 46"/>
          <p:cNvSpPr/>
          <p:nvPr/>
        </p:nvSpPr>
        <p:spPr>
          <a:xfrm rot="108000">
            <a:off x="8888517" y="4615028"/>
            <a:ext cx="868680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goes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 rot="-126000">
            <a:off x="9629181" y="4647946"/>
            <a:ext cx="694944" cy="3740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up.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5404653" y="4260215"/>
            <a:ext cx="6199083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04653" y="4634230"/>
            <a:ext cx="6199083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76637" y="5038344"/>
            <a:ext cx="6500835" cy="237744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 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276637" y="5276088"/>
            <a:ext cx="6500835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 rot="-108000">
            <a:off x="5404653" y="5396789"/>
            <a:ext cx="6949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 rot="72000">
            <a:off x="5971581" y="537210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particles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 rot="-90000">
            <a:off x="7580925" y="5394046"/>
            <a:ext cx="868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have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 rot="108000">
            <a:off x="8321589" y="5374843"/>
            <a:ext cx="868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more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 rot="-54000">
            <a:off x="9062253" y="5402275"/>
            <a:ext cx="12161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energy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 rot="90000">
            <a:off x="10150389" y="5377586"/>
            <a:ext cx="5212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so</a:t>
            </a:r>
            <a:endParaRPr lang="en-US" sz="1900" dirty="0"/>
          </a:p>
        </p:txBody>
      </p:sp>
      <p:sp>
        <p:nvSpPr>
          <p:cNvPr id="60" name="Text 58"/>
          <p:cNvSpPr/>
          <p:nvPr/>
        </p:nvSpPr>
        <p:spPr>
          <a:xfrm rot="-36000">
            <a:off x="10543581" y="5396789"/>
            <a:ext cx="868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they</a:t>
            </a:r>
            <a:endParaRPr lang="en-US" sz="1900" dirty="0"/>
          </a:p>
        </p:txBody>
      </p:sp>
      <p:sp>
        <p:nvSpPr>
          <p:cNvPr id="61" name="Text 59"/>
          <p:cNvSpPr/>
          <p:nvPr/>
        </p:nvSpPr>
        <p:spPr>
          <a:xfrm rot="-108000">
            <a:off x="5404653" y="5881421"/>
            <a:ext cx="6949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hit</a:t>
            </a:r>
            <a:endParaRPr lang="en-US" sz="1900" dirty="0"/>
          </a:p>
        </p:txBody>
      </p:sp>
      <p:sp>
        <p:nvSpPr>
          <p:cNvPr id="62" name="Text 60"/>
          <p:cNvSpPr/>
          <p:nvPr/>
        </p:nvSpPr>
        <p:spPr>
          <a:xfrm rot="72000">
            <a:off x="5971581" y="5856732"/>
            <a:ext cx="12161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harder</a:t>
            </a:r>
            <a:endParaRPr lang="en-US" sz="1900" dirty="0"/>
          </a:p>
        </p:txBody>
      </p:sp>
      <p:sp>
        <p:nvSpPr>
          <p:cNvPr id="63" name="Text 61"/>
          <p:cNvSpPr/>
          <p:nvPr/>
        </p:nvSpPr>
        <p:spPr>
          <a:xfrm rot="-90000">
            <a:off x="7059717" y="5878678"/>
            <a:ext cx="6949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and</a:t>
            </a:r>
            <a:endParaRPr lang="en-US" sz="1900" dirty="0"/>
          </a:p>
        </p:txBody>
      </p:sp>
      <p:sp>
        <p:nvSpPr>
          <p:cNvPr id="64" name="Text 62"/>
          <p:cNvSpPr/>
          <p:nvPr/>
        </p:nvSpPr>
        <p:spPr>
          <a:xfrm rot="108000">
            <a:off x="7626645" y="5859475"/>
            <a:ext cx="6949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1900" dirty="0"/>
          </a:p>
        </p:txBody>
      </p:sp>
      <p:sp>
        <p:nvSpPr>
          <p:cNvPr id="65" name="Text 63"/>
          <p:cNvSpPr/>
          <p:nvPr/>
        </p:nvSpPr>
        <p:spPr>
          <a:xfrm rot="-54000">
            <a:off x="8193573" y="5886907"/>
            <a:ext cx="15636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reaction</a:t>
            </a:r>
            <a:endParaRPr lang="en-US" sz="1900" dirty="0"/>
          </a:p>
        </p:txBody>
      </p:sp>
      <p:sp>
        <p:nvSpPr>
          <p:cNvPr id="66" name="Text 64"/>
          <p:cNvSpPr/>
          <p:nvPr/>
        </p:nvSpPr>
        <p:spPr>
          <a:xfrm rot="90000">
            <a:off x="9629181" y="5862218"/>
            <a:ext cx="5212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is</a:t>
            </a:r>
            <a:endParaRPr lang="en-US" sz="1900" dirty="0"/>
          </a:p>
        </p:txBody>
      </p:sp>
      <p:sp>
        <p:nvSpPr>
          <p:cNvPr id="67" name="Text 65"/>
          <p:cNvSpPr/>
          <p:nvPr/>
        </p:nvSpPr>
        <p:spPr>
          <a:xfrm rot="-36000">
            <a:off x="10022373" y="5881421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faster.</a:t>
            </a:r>
            <a:endParaRPr lang="en-US" sz="1900" dirty="0"/>
          </a:p>
        </p:txBody>
      </p:sp>
      <p:sp>
        <p:nvSpPr>
          <p:cNvPr id="68" name="Shape 66"/>
          <p:cNvSpPr/>
          <p:nvPr/>
        </p:nvSpPr>
        <p:spPr>
          <a:xfrm>
            <a:off x="5404653" y="5870448"/>
            <a:ext cx="6199083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04653" y="6355080"/>
            <a:ext cx="6199083" cy="0"/>
          </a:xfrm>
          <a:prstGeom prst="line">
            <a:avLst/>
          </a:prstGeom>
          <a:noFill/>
          <a:ln w="9525">
            <a:solidFill>
              <a:srgbClr val="C9C9D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MARK THE ANSWERS: MARKS AWARDED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  </a:t>
            </a:r>
            <a:pPr algn="l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how increasing the concentration of the acid changes the rate of reaction.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728216"/>
            <a:ext cx="11365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many marks did each answer earn — and what were they for?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2039112"/>
            <a:ext cx="4773717" cy="442569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INDICATIVE CONTENT</a:t>
            </a:r>
            <a:endParaRPr lang="en-US" sz="13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acid particles in the same </a:t>
            </a:r>
            <a:pPr algn="l" indent="0" marL="0">
              <a:spcAft>
                <a:spcPts val="400"/>
              </a:spcAft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volume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particles are closer together</a:t>
            </a:r>
            <a:endParaRPr lang="en-US" sz="13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COLLISION THEORY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collisions are more </a:t>
            </a:r>
            <a:pPr algn="l" indent="0" marL="0">
              <a:spcAft>
                <a:spcPts val="400"/>
              </a:spcAft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frequent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successful collisions per second</a:t>
            </a:r>
            <a:endParaRPr lang="en-US" sz="1300" dirty="0"/>
          </a:p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E0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OUTCOME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the </a:t>
            </a:r>
            <a:pPr algn="l" indent="0" marL="0">
              <a:buNone/>
            </a:pPr>
            <a:r>
              <a:rPr lang="en-US" sz="1400" u="sng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increases</a:t>
            </a:r>
            <a:endParaRPr lang="en-US" sz="13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</a:t>
            </a:r>
            <a:pPr algn="l" indent="0" marL="0"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total gas produced is unchanged </a:t>
            </a:r>
            <a:pPr algn="l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unless</a:t>
            </a:r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acid is limiting</a:t>
            </a:r>
            <a:endParaRPr lang="en-US" sz="13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3 (5 to 6):  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collision theory link with correct use of frequency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2 (3 to 4):  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 collision theory, imprecise language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1 (1 to 2):  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States the rate increases with no mechanism</a:t>
            </a:r>
            <a:endParaRPr lang="en-US" sz="13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8A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EXCLUSIONARY CLAIMS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FCD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the particles have more energy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FCD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the collisions are harder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76637" y="2039112"/>
            <a:ext cx="6500835" cy="142646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 A   </a:t>
            </a:r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1 · 2/6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rate increases   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no mention of frequency   </a:t>
            </a:r>
            <a:pPr algn="l" indent="0" marL="0">
              <a:buNone/>
            </a:pPr>
            <a:r>
              <a:rPr lang="en-US" sz="120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no link to particles per volume   </a:t>
            </a:r>
            <a:endParaRPr lang="en-US" sz="13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Everyday language, no collision theory.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76637" y="3538728"/>
            <a:ext cx="6500835" cy="142646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 B   </a:t>
            </a:r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2 · 4/6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more particles per volume   </a:t>
            </a:r>
            <a:pPr algn="l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collisions increase   </a:t>
            </a:r>
            <a:pPr algn="l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rate increases   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does not say collisions are more frequent   </a:t>
            </a:r>
            <a:endParaRPr lang="en-US" sz="13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 to Level 3. Needs the word frequent.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76637" y="5038344"/>
            <a:ext cx="6500835" cy="142646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 C   </a:t>
            </a:r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1 · 1/6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rate increases   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mechanism is wrong   </a:t>
            </a:r>
            <a:endParaRPr lang="en-US" sz="13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Classic misconception: concentration confused with temperature.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CORRECT THE STATEMENT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These statements are incorrect. Correct each one in your book.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1472184"/>
            <a:ext cx="5637276" cy="127430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 rot="-162000">
            <a:off x="539496" y="1598371"/>
            <a:ext cx="374904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 rot="108000">
            <a:off x="786384" y="1562710"/>
            <a:ext cx="1783080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catalyst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 rot="-126000">
            <a:off x="2441448" y="1595628"/>
            <a:ext cx="576072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 rot="144000">
            <a:off x="2889504" y="1565453"/>
            <a:ext cx="978408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used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 rot="-90000">
            <a:off x="3739896" y="1603858"/>
            <a:ext cx="576072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up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 rot="126000">
            <a:off x="4187952" y="1570939"/>
            <a:ext cx="576072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 rot="-144000">
            <a:off x="4636008" y="1601114"/>
            <a:ext cx="777240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 rot="72000">
            <a:off x="539496" y="2095622"/>
            <a:ext cx="1984248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reaction.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11480" y="2783068"/>
            <a:ext cx="5637276" cy="113970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</a:t>
            </a:r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catalyst is chemically unchanged at the end.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40196" y="1472184"/>
            <a:ext cx="5637276" cy="127430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 rot="-162000">
            <a:off x="6268212" y="1598371"/>
            <a:ext cx="1380744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Powder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 rot="108000">
            <a:off x="7520940" y="1562710"/>
            <a:ext cx="1783080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produces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 rot="-126000">
            <a:off x="9176004" y="1595628"/>
            <a:ext cx="978408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more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 rot="144000">
            <a:off x="10026396" y="1565453"/>
            <a:ext cx="777240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gas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 rot="-90000">
            <a:off x="10675620" y="1603858"/>
            <a:ext cx="978408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than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 rot="126000">
            <a:off x="6268212" y="2098365"/>
            <a:ext cx="1380744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chips.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140196" y="2783068"/>
            <a:ext cx="5637276" cy="113970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</a:t>
            </a:r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Powder produces the same gas, just faster.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11480" y="4014216"/>
            <a:ext cx="5637276" cy="127430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 rot="-162000">
            <a:off x="539496" y="4140403"/>
            <a:ext cx="1380744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Higher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 rot="108000">
            <a:off x="1792224" y="4104742"/>
            <a:ext cx="2788920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concentration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 rot="-126000">
            <a:off x="4453128" y="4137660"/>
            <a:ext cx="1179576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gives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 rot="144000">
            <a:off x="539496" y="4634911"/>
            <a:ext cx="1984248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particles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 rot="-90000">
            <a:off x="2395728" y="4673316"/>
            <a:ext cx="978408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more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 rot="126000">
            <a:off x="3246120" y="4640397"/>
            <a:ext cx="1581912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energy.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11480" y="5325100"/>
            <a:ext cx="5637276" cy="113970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</a:t>
            </a:r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Higher concentration gives more frequent collisions, not more energy.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140196" y="4014216"/>
            <a:ext cx="5637276" cy="127430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 rot="-162000">
            <a:off x="6268212" y="4140403"/>
            <a:ext cx="777240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 rot="108000">
            <a:off x="6917436" y="4104742"/>
            <a:ext cx="978408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rate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 rot="-126000">
            <a:off x="7767828" y="4137660"/>
            <a:ext cx="576072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is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 rot="144000">
            <a:off x="8215884" y="4107485"/>
            <a:ext cx="1581912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highest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 rot="-90000">
            <a:off x="9669780" y="4145890"/>
            <a:ext cx="978408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when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 rot="126000">
            <a:off x="10520172" y="4112971"/>
            <a:ext cx="777240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the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 rot="-144000">
            <a:off x="6268212" y="4670572"/>
            <a:ext cx="1179576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graph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 rot="72000">
            <a:off x="7319772" y="4637654"/>
            <a:ext cx="576072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is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 rot="-162000">
            <a:off x="7767828" y="4667829"/>
            <a:ext cx="1179576" cy="5274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flat.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140196" y="5325100"/>
            <a:ext cx="5637276" cy="113970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</a:t>
            </a:r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rate is zero when the graph is flat.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CORRECT THE STATEMENT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Raster handwriting mode, same layout rendered as an image.</a:t>
            </a:r>
            <a:endParaRPr lang="en-US" sz="1200" dirty="0"/>
          </a:p>
        </p:txBody>
      </p:sp>
      <p:pic>
        <p:nvPicPr>
          <p:cNvPr id="11" name="Image 0" descr="C:\Users\magda\AppData\Local\Temp\hw_1788477041208_kjibywkvpv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1480" y="1472184"/>
            <a:ext cx="5637276" cy="12743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11480" y="2783068"/>
            <a:ext cx="5637276" cy="113970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</a:t>
            </a:r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Cooling slows a reaction down.</a:t>
            </a:r>
            <a:endParaRPr lang="en-US" sz="1300" dirty="0"/>
          </a:p>
        </p:txBody>
      </p:sp>
      <p:pic>
        <p:nvPicPr>
          <p:cNvPr id="13" name="Image 1" descr="C:\Users\magda\AppData\Local\Temp\hw_1788477041321_bslhnd5n6u6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0196" y="1472184"/>
            <a:ext cx="5637276" cy="12743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140196" y="2783068"/>
            <a:ext cx="5637276" cy="113970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</a:t>
            </a:r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 is measured in cm3/s or g/s.</a:t>
            </a:r>
            <a:endParaRPr lang="en-US" sz="1300" dirty="0"/>
          </a:p>
        </p:txBody>
      </p:sp>
      <p:pic>
        <p:nvPicPr>
          <p:cNvPr id="15" name="Image 2" descr="C:\Users\magda\AppData\Local\Temp\hw_1788477041585_ziw3u97rsfj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1480" y="4014216"/>
            <a:ext cx="5637276" cy="12743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11480" y="5325100"/>
            <a:ext cx="5637276" cy="113970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</a:t>
            </a:r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Only collisions with enough energy and correct orientation react.</a:t>
            </a:r>
            <a:endParaRPr lang="en-US" sz="1300" dirty="0"/>
          </a:p>
        </p:txBody>
      </p:sp>
      <p:pic>
        <p:nvPicPr>
          <p:cNvPr id="17" name="Image 3" descr="C:\Users\magda\AppData\Local\Temp\hw_1788477041589_6yur7dmbsdi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40196" y="4014216"/>
            <a:ext cx="5637276" cy="12743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40196" y="5325100"/>
            <a:ext cx="5637276" cy="113970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</a:t>
            </a:r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 area changes only the rate.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DATA + GRAPH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88136"/>
          <a:ext cx="5637276" cy="914400"/>
        </p:xfrm>
        <a:graphic>
          <a:graphicData uri="http://schemas.openxmlformats.org/drawingml/2006/table">
            <a:tbl>
              <a:tblPr/>
              <a:tblGrid>
                <a:gridCol w="2818638"/>
                <a:gridCol w="2818638"/>
              </a:tblGrid>
              <a:tr h="6720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51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Time (s)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51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Volume of gas (cm3)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6720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0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0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30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22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60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38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90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48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120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54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150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57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180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58</a:t>
                      </a:r>
                      <a:endParaRPr lang="en-US" sz="15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C:\Users\magda\AppData\Local\Temp\gg_out_178847704168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0196" y="1088136"/>
            <a:ext cx="5637276" cy="53766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1796796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IPEVO Visualiser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0" y="2802636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answers under the visualiser · Reference C Marking Slides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2514" y="3351276"/>
            <a:ext cx="6703924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u="sng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https://apps.ipevo.com/pwa/visualizer.app/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0" y="4128516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↑  Click to open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· CHOOSE YOUR LEVEL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3697224" cy="384048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527048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what indicative content means.  [1 mark]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197352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the unit of rate by gas volume.  [1 mark]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4867656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one thing that never earns a mark.  [1 mark]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45864" y="1088136"/>
            <a:ext cx="3697224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45864" y="1527048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a mark scheme lists 'do not accept' wording.  [2 marks]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45864" y="3197352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what error carried forward allows.  [2 marks]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45864" y="4867656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the difference between Level 2 and Level 3 here.  [2 marks]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80248" y="1088136"/>
            <a:ext cx="3697224" cy="384048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MASTERING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80248" y="1527048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Student C's answer and justify your decision using the mark scheme.  [4 marks]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080248" y="3197352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 Student A's answer so it would reach Level 3.  [4 marks]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80248" y="4867656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band marking suits a 6 mark explanation but not a calculation.  [3 marks]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TODAY’S LEARNING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1655064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ECF allow?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Later method marks after an earlier slip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978097" cy="1655064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separates Level 2 from Level 3?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462729" y="3099816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Linking mechanism to outcome, not just stating it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" y="4809744"/>
            <a:ext cx="3978097" cy="1655064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is 'the collisions are harder' excluded?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462729" y="4809744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is the temperature explanation, not concentration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exam answers accurately against a mark scheme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BANK — sources and assets used in this lesson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pic>
        <p:nvPicPr>
          <p:cNvPr id="4" name="Image 0" descr="C:\Users\magda\AppData\Local\Temp\gg_out_178847704477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85216"/>
            <a:ext cx="11274552" cy="55595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18134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graph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buchet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2026-09-03T23:10:47Z</dcterms:created>
  <dcterms:modified xsi:type="dcterms:W3CDTF">2026-09-03T23:10:47Z</dcterms:modified>
</cp:coreProperties>
</file>