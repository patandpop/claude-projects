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fonts/font1.fntdata" ContentType="application/x-fontdata"/>
  <Override PartName="/ppt/fonts/font2.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Caveat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ipevo.com/pwa/visualizer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713232"/>
            <a:ext cx="3976543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C: marking and review slides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976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10  ·  Chemistry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976543" cy="231343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Mark exam answers accurately against a mark scheme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5029200"/>
            <a:ext cx="3976543" cy="109728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Words: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content  ·  level of response  ·  error carried forward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61175" y="713232"/>
            <a:ext cx="11887" cy="5413248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5767" y="713232"/>
            <a:ext cx="7151705" cy="36576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5767" y="13647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625767" y="13647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8687" y="11704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ECF stand for?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625767" y="221056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625767" y="221056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8687" y="201625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marks is a level of response question usually worth?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5767" y="305638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625767" y="305638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8687" y="286207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indicative content?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25767" y="390220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25767" y="39022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8687" y="370789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must units be given in a calculation answer?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625767" y="474802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8" name="Text 26"/>
          <p:cNvSpPr/>
          <p:nvPr/>
        </p:nvSpPr>
        <p:spPr>
          <a:xfrm>
            <a:off x="4625767" y="474802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8687" y="455371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'do not accept' mean on a mark scheme?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625767" y="55938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31" name="Text 29"/>
          <p:cNvSpPr/>
          <p:nvPr/>
        </p:nvSpPr>
        <p:spPr>
          <a:xfrm>
            <a:off x="4625767" y="55938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8687" y="53995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thing that never earns a mark.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0" y="62453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start · pen out · attempt all questions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ECF stand for?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62729" y="108813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carried forward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996440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marks is a level of response question usually worth?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62729" y="1996440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904744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indicative content?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729" y="2904744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marking points an answer could contain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3813048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must units be given in a calculation answer?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62729" y="3813048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final mark is usually for the unit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4721352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'do not accept' mean on a mark scheme?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62729" y="4721352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wording scores zero even if the rest is right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11480" y="562965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one thing that never earns a mark.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462729" y="562965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Repeating the question wording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5591556" cy="914400"/>
        </p:xfrm>
        <a:graphic>
          <a:graphicData uri="http://schemas.openxmlformats.org/drawingml/2006/table">
            <a:tbl>
              <a:tblPr/>
              <a:tblGrid>
                <a:gridCol w="4025920"/>
                <a:gridCol w="1565636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BB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CORE PAPER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Rate of reaction definition and units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Collision theory explanation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182 to 183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5916" y="1088136"/>
          <a:ext cx="5591556" cy="914400"/>
        </p:xfrm>
        <a:graphic>
          <a:graphicData uri="http://schemas.openxmlformats.org/drawingml/2006/table">
            <a:tbl>
              <a:tblPr/>
              <a:tblGrid>
                <a:gridCol w="4025920"/>
                <a:gridCol w="1565636"/>
              </a:tblGrid>
              <a:tr h="0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BB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CHALLENGE PAPER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Tangent method for rate at an instant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186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MODEL ANSWER — Q3.2  [6 marks]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88136"/>
            <a:ext cx="5455676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-108000">
            <a:off x="539496" y="1208837"/>
            <a:ext cx="104656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Powder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 rot="72000">
            <a:off x="1458046" y="1184148"/>
            <a:ext cx="658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has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 rot="-90000">
            <a:off x="1988942" y="1206094"/>
            <a:ext cx="38715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 rot="108000">
            <a:off x="2248083" y="1186891"/>
            <a:ext cx="920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bigger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 rot="-54000">
            <a:off x="3040827" y="1214323"/>
            <a:ext cx="107331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surface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 rot="90000">
            <a:off x="3986124" y="1189634"/>
            <a:ext cx="82896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area.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 rot="-36000">
            <a:off x="4687072" y="1208837"/>
            <a:ext cx="82929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 rot="-108000">
            <a:off x="539496" y="2068373"/>
            <a:ext cx="70480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acid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 rot="72000">
            <a:off x="1116289" y="2043684"/>
            <a:ext cx="120968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particles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 rot="-90000">
            <a:off x="2197959" y="2065630"/>
            <a:ext cx="658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can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 rot="108000">
            <a:off x="2728854" y="2046427"/>
            <a:ext cx="5700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hit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 rot="-54000">
            <a:off x="3170926" y="2073859"/>
            <a:ext cx="6156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 rot="90000">
            <a:off x="3658565" y="2049170"/>
            <a:ext cx="1009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marble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 rot="-36000">
            <a:off x="4540133" y="2068373"/>
            <a:ext cx="49645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at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 rot="-108000">
            <a:off x="4908570" y="2068373"/>
            <a:ext cx="80684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once.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 rot="72000">
            <a:off x="539496" y="2903220"/>
            <a:ext cx="52286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 rot="-90000">
            <a:off x="934349" y="2925166"/>
            <a:ext cx="122883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collisions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 rot="108000">
            <a:off x="2035170" y="2905963"/>
            <a:ext cx="6163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are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 rot="-54000">
            <a:off x="2523470" y="2933395"/>
            <a:ext cx="77646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 rot="90000">
            <a:off x="3171916" y="2908706"/>
            <a:ext cx="12512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frequent.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 rot="-36000">
            <a:off x="4295191" y="2927909"/>
            <a:ext cx="78636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Rate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 rot="-108000">
            <a:off x="4953544" y="2927909"/>
            <a:ext cx="7054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goes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 rot="72000">
            <a:off x="539496" y="3762756"/>
            <a:ext cx="55225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up.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 rot="-90000">
            <a:off x="963737" y="3784702"/>
            <a:ext cx="84877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Same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 rot="108000">
            <a:off x="1684498" y="3765499"/>
            <a:ext cx="80618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mass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 rot="-54000">
            <a:off x="2362662" y="3792931"/>
            <a:ext cx="458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of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 rot="90000">
            <a:off x="2693126" y="3768242"/>
            <a:ext cx="1009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marble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 rot="-36000">
            <a:off x="3574694" y="3787445"/>
            <a:ext cx="47499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 rot="-108000">
            <a:off x="3921669" y="3787445"/>
            <a:ext cx="6156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 rot="72000">
            <a:off x="4409308" y="3762756"/>
            <a:ext cx="80089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same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 rot="-90000">
            <a:off x="5082189" y="3784702"/>
            <a:ext cx="78405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total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 rot="108000">
            <a:off x="539496" y="4625035"/>
            <a:ext cx="68829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gas.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 rot="-54000">
            <a:off x="1099779" y="4652467"/>
            <a:ext cx="65759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 rot="90000">
            <a:off x="1629354" y="4627778"/>
            <a:ext cx="82071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curve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 rot="-36000">
            <a:off x="2322048" y="4646981"/>
            <a:ext cx="42017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is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 rot="-108000">
            <a:off x="2614209" y="4646981"/>
            <a:ext cx="103930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steeper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 rot="72000">
            <a:off x="3525495" y="4622292"/>
            <a:ext cx="61796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but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 rot="-90000">
            <a:off x="4015445" y="4644238"/>
            <a:ext cx="75004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ends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 rot="108000">
            <a:off x="4637476" y="4625035"/>
            <a:ext cx="49645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at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 rot="-54000">
            <a:off x="5005913" y="4652467"/>
            <a:ext cx="6156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 rot="90000">
            <a:off x="539496" y="5487314"/>
            <a:ext cx="80089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same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 rot="-36000">
            <a:off x="1212378" y="5506517"/>
            <a:ext cx="10221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height.</a:t>
            </a:r>
            <a:endParaRPr lang="en-US" sz="2600" dirty="0"/>
          </a:p>
        </p:txBody>
      </p:sp>
      <p:sp>
        <p:nvSpPr>
          <p:cNvPr id="53" name="Shape 51"/>
          <p:cNvSpPr/>
          <p:nvPr/>
        </p:nvSpPr>
        <p:spPr>
          <a:xfrm>
            <a:off x="539496" y="2057400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9496" y="2916936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" y="3776472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9496" y="4636008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9496" y="5495544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" y="6355080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58596" y="1088136"/>
            <a:ext cx="5818876" cy="537667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CONTENT</a:t>
            </a:r>
            <a:endParaRPr lang="en-US" sz="12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AREA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 has a larger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area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particles are </a:t>
            </a:r>
            <a:pPr algn="l" indent="0" marL="0"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exposed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to the acid</a:t>
            </a:r>
            <a:endParaRPr lang="en-US" sz="12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THEORY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collisions are more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frequent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</a:t>
            </a:r>
            <a:pPr algn="l" indent="0" marL="0"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increases</a:t>
            </a:r>
            <a:pPr algn="l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(dependent on MP3)</a:t>
            </a:r>
            <a:endParaRPr lang="en-US" sz="12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YIELD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mass of marble is used </a:t>
            </a:r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the same volume of acid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final volume of gas is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unchanged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BANDS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(5 to 6 marks):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surface area to collision frequency and to the unchanged yield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(3 to 4 marks):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surface area to rate but not to yield</a:t>
            </a:r>
            <a:endParaRPr lang="en-US" sz="12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(1 to 2 marks):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 powder is faster with no mechanism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8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EXCLUSIONARY CLAIMS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powder has more energy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the particles get smaller so they react more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more product is made with powder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MODEL ANSWER — Q4.1  [3 marks]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88136"/>
            <a:ext cx="5455676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-36000">
            <a:off x="539496" y="1197864"/>
            <a:ext cx="6796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rate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 rot="18000">
            <a:off x="1091123" y="1203350"/>
            <a:ext cx="36722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=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 rot="-18000">
            <a:off x="1330330" y="1192378"/>
            <a:ext cx="38063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 rot="36000">
            <a:off x="1582948" y="1200607"/>
            <a:ext cx="36722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÷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2155" y="1195121"/>
            <a:ext cx="33217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 rot="-36000">
            <a:off x="539496" y="2331720"/>
            <a:ext cx="6796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 rot="18000">
            <a:off x="1091123" y="2337206"/>
            <a:ext cx="36722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=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 rot="-18000">
            <a:off x="1330330" y="2326234"/>
            <a:ext cx="50560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 rot="36000">
            <a:off x="1707916" y="2334463"/>
            <a:ext cx="36722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÷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47123" y="2328977"/>
            <a:ext cx="51200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60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 rot="-36000">
            <a:off x="539496" y="3465576"/>
            <a:ext cx="67964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rate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 rot="18000">
            <a:off x="1091123" y="3471062"/>
            <a:ext cx="36722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=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 rot="-18000">
            <a:off x="1330330" y="3460090"/>
            <a:ext cx="565953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0.8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 rot="36000">
            <a:off x="1768267" y="3468319"/>
            <a:ext cx="820461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cm³/s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39496" y="2331720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" y="3465576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4599432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" y="5733288"/>
            <a:ext cx="5153924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58596" y="1088136"/>
            <a:ext cx="5818876" cy="537667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CONTENT</a:t>
            </a:r>
            <a:endParaRPr lang="en-US" sz="12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SUBSTITUTION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equation stated or implied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substitution 48 ÷ 60</a:t>
            </a:r>
            <a:endParaRPr lang="en-US" sz="12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0.8 with unit cm³/s</a:t>
            </a:r>
            <a:endParaRPr lang="en-US" sz="1200" dirty="0"/>
          </a:p>
          <a:p>
            <a:pPr algn="l" indent="0" marL="0">
              <a:buNone/>
            </a:pPr>
            <a:r>
              <a:rPr lang="en-US" sz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ECF:  </a:t>
            </a:r>
            <a:pPr algn="l" indent="0" marL="0">
              <a:buNone/>
            </a:pPr>
            <a:r>
              <a:rPr lang="en-US" sz="11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arithmetic slip after correct substitution still earns the substitution mark and the unit mark.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MODEL ANSWER — Q4.3  [4 marks]</a:t>
            </a:r>
            <a:endParaRPr lang="en-US" sz="1300" dirty="0"/>
          </a:p>
        </p:txBody>
      </p:sp>
      <p:pic>
        <p:nvPicPr>
          <p:cNvPr id="10" name="Image 0" descr="C:\Users\magda\AppData\Local\Temp\gg_out_17909760479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88136"/>
            <a:ext cx="5455676" cy="53766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58596" y="1088136"/>
            <a:ext cx="5818876" cy="537667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CONTENT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axes labelled with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quantity and unit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sensible linear scales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points plotted accurately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smooth curve of best fit, </a:t>
            </a:r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dot to dot</a:t>
            </a:r>
            <a:endParaRPr lang="en-US" sz="12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8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EXCLUSIONARY CLAIMS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points joined with straight lines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line forced through the origin at the expense of fit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MARK THE ANSWERS — Q5  [6 marks]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 </a:t>
            </a:r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how increasing the concentration of the acid changes the rate of reaction.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28216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each answer against the mark scheme. Give it a level and a mark out of 6.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4773717" cy="442569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CONTENT</a:t>
            </a:r>
            <a:endParaRPr lang="en-US" sz="13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acid particles in the same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particles are closer together</a:t>
            </a:r>
            <a:endParaRPr lang="en-US" sz="13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THEORY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collisions are more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frequent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successful collisions per second</a:t>
            </a:r>
            <a:endParaRPr lang="en-US" sz="13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</a:t>
            </a:r>
            <a:pPr algn="l" indent="0" marL="0"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increases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total gas produced is unchanged </a:t>
            </a:r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unless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acid is limiting</a:t>
            </a:r>
            <a:endParaRPr lang="en-US" sz="13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(5 to 6):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collision theory link with correct use of frequency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(3 to 4):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collision theory, imprecise language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(1 to 2):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 the rate increases with no mechanism</a:t>
            </a:r>
            <a:endParaRPr lang="en-US" sz="13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8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EXCLUSIONARY CLAIMS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the particles have more energy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the collisions are harder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76637" y="2039112"/>
            <a:ext cx="6500835" cy="237744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76637" y="2276856"/>
            <a:ext cx="6500835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-72000">
            <a:off x="5404653" y="2392070"/>
            <a:ext cx="682475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 rot="54000">
            <a:off x="5959112" y="2378354"/>
            <a:ext cx="341518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 rot="-36000">
            <a:off x="6172614" y="2397557"/>
            <a:ext cx="601881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 rot="72000">
            <a:off x="6646479" y="2381098"/>
            <a:ext cx="549519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acid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 rot="-18000">
            <a:off x="7067982" y="2394814"/>
            <a:ext cx="381574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 rot="36000">
            <a:off x="7321540" y="2375611"/>
            <a:ext cx="336934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 rot="-72000">
            <a:off x="7530457" y="2392070"/>
            <a:ext cx="550001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goes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 rot="54000">
            <a:off x="7952443" y="2378354"/>
            <a:ext cx="769343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faster.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 rot="-36000">
            <a:off x="8593770" y="2397557"/>
            <a:ext cx="515013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 rot="72000">
            <a:off x="8980767" y="2381098"/>
            <a:ext cx="918467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particles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 rot="-18000">
            <a:off x="9771217" y="2394814"/>
            <a:ext cx="634698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bump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 rot="36000">
            <a:off x="10277899" y="2375611"/>
            <a:ext cx="649658" cy="8976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more.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404653" y="3284220"/>
            <a:ext cx="6199083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637" y="3538728"/>
            <a:ext cx="6500835" cy="237744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76637" y="3776472"/>
            <a:ext cx="6500835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-162000">
            <a:off x="5404653" y="3902659"/>
            <a:ext cx="64048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 rot="108000">
            <a:off x="5917126" y="3866998"/>
            <a:ext cx="91846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particles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 rot="-126000">
            <a:off x="6707576" y="3899916"/>
            <a:ext cx="3678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 rot="144000">
            <a:off x="6947380" y="3869741"/>
            <a:ext cx="48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 rot="-90000">
            <a:off x="7303732" y="3908146"/>
            <a:ext cx="61973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same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 rot="126000">
            <a:off x="7795453" y="3875227"/>
            <a:ext cx="7271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volume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 rot="-144000">
            <a:off x="8394553" y="3905402"/>
            <a:ext cx="3815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 rot="72000">
            <a:off x="8648111" y="3872484"/>
            <a:ext cx="5666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they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 rot="-162000">
            <a:off x="9086746" y="3902659"/>
            <a:ext cx="48485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are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 rot="108000">
            <a:off x="9443580" y="3866998"/>
            <a:ext cx="72759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closer.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 rot="-126000">
            <a:off x="10043163" y="3899916"/>
            <a:ext cx="62190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That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 rot="144000">
            <a:off x="10537055" y="3869741"/>
            <a:ext cx="73049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means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 rot="-90000">
            <a:off x="11139533" y="3908146"/>
            <a:ext cx="60188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 rot="126000">
            <a:off x="5404653" y="4359859"/>
            <a:ext cx="9324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collisions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 rot="-144000">
            <a:off x="6209099" y="4390034"/>
            <a:ext cx="3815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 rot="72000">
            <a:off x="6462657" y="4357116"/>
            <a:ext cx="48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 rot="-162000">
            <a:off x="6819008" y="4387291"/>
            <a:ext cx="56472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rate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 rot="108000">
            <a:off x="7255713" y="4351630"/>
            <a:ext cx="55000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goes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 rot="-126000">
            <a:off x="7677699" y="4384548"/>
            <a:ext cx="43803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up.</a:t>
            </a:r>
            <a:endParaRPr lang="en-US" sz="1900" dirty="0"/>
          </a:p>
        </p:txBody>
      </p:sp>
      <p:sp>
        <p:nvSpPr>
          <p:cNvPr id="49" name="Shape 47"/>
          <p:cNvSpPr/>
          <p:nvPr/>
        </p:nvSpPr>
        <p:spPr>
          <a:xfrm>
            <a:off x="5404653" y="4370832"/>
            <a:ext cx="6199083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04653" y="4855464"/>
            <a:ext cx="6199083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76637" y="5038344"/>
            <a:ext cx="6500835" cy="237744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C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276637" y="5276088"/>
            <a:ext cx="6500835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 rot="-108000">
            <a:off x="5404653" y="5396789"/>
            <a:ext cx="51501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 rot="72000">
            <a:off x="5791650" y="5372100"/>
            <a:ext cx="91846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particles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 rot="-90000">
            <a:off x="6582100" y="5394046"/>
            <a:ext cx="5919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have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 rot="108000">
            <a:off x="7046072" y="5374843"/>
            <a:ext cx="60188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1900" dirty="0"/>
          </a:p>
        </p:txBody>
      </p:sp>
      <p:sp>
        <p:nvSpPr>
          <p:cNvPr id="57" name="Text 55"/>
          <p:cNvSpPr/>
          <p:nvPr/>
        </p:nvSpPr>
        <p:spPr>
          <a:xfrm rot="-54000">
            <a:off x="7519937" y="5402275"/>
            <a:ext cx="73869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energy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 rot="90000">
            <a:off x="8130619" y="5377586"/>
            <a:ext cx="3815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 rot="-36000">
            <a:off x="8384177" y="5396789"/>
            <a:ext cx="56665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they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 rot="-108000">
            <a:off x="8822812" y="5396789"/>
            <a:ext cx="4510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hit</a:t>
            </a:r>
            <a:endParaRPr lang="en-US" sz="1900" dirty="0"/>
          </a:p>
        </p:txBody>
      </p:sp>
      <p:sp>
        <p:nvSpPr>
          <p:cNvPr id="61" name="Text 59"/>
          <p:cNvSpPr/>
          <p:nvPr/>
        </p:nvSpPr>
        <p:spPr>
          <a:xfrm rot="72000">
            <a:off x="9145864" y="5372100"/>
            <a:ext cx="782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harder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 rot="-90000">
            <a:off x="9800704" y="5394046"/>
            <a:ext cx="5251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and</a:t>
            </a:r>
            <a:endParaRPr lang="en-US" sz="1900" dirty="0"/>
          </a:p>
        </p:txBody>
      </p:sp>
      <p:sp>
        <p:nvSpPr>
          <p:cNvPr id="63" name="Text 61"/>
          <p:cNvSpPr/>
          <p:nvPr/>
        </p:nvSpPr>
        <p:spPr>
          <a:xfrm rot="108000">
            <a:off x="10197836" y="5374843"/>
            <a:ext cx="48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1900" dirty="0"/>
          </a:p>
        </p:txBody>
      </p:sp>
      <p:sp>
        <p:nvSpPr>
          <p:cNvPr id="64" name="Text 62"/>
          <p:cNvSpPr/>
          <p:nvPr/>
        </p:nvSpPr>
        <p:spPr>
          <a:xfrm rot="-54000">
            <a:off x="10554188" y="5402275"/>
            <a:ext cx="8979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reaction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 rot="90000">
            <a:off x="11324128" y="5377586"/>
            <a:ext cx="34151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is</a:t>
            </a:r>
            <a:endParaRPr lang="en-US" sz="1900" dirty="0"/>
          </a:p>
        </p:txBody>
      </p:sp>
      <p:sp>
        <p:nvSpPr>
          <p:cNvPr id="66" name="Text 64"/>
          <p:cNvSpPr/>
          <p:nvPr/>
        </p:nvSpPr>
        <p:spPr>
          <a:xfrm rot="-36000">
            <a:off x="5404653" y="5881421"/>
            <a:ext cx="76934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faster.</a:t>
            </a:r>
            <a:endParaRPr lang="en-US" sz="1900" dirty="0"/>
          </a:p>
        </p:txBody>
      </p:sp>
      <p:sp>
        <p:nvSpPr>
          <p:cNvPr id="67" name="Shape 65"/>
          <p:cNvSpPr/>
          <p:nvPr/>
        </p:nvSpPr>
        <p:spPr>
          <a:xfrm>
            <a:off x="5404653" y="5870448"/>
            <a:ext cx="6199083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04653" y="6355080"/>
            <a:ext cx="6199083" cy="0"/>
          </a:xfrm>
          <a:prstGeom prst="line">
            <a:avLst/>
          </a:prstGeom>
          <a:noFill/>
          <a:ln w="9525">
            <a:solidFill>
              <a:srgbClr val="C9C9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MARK THE ANSWERS: MARKS AWARDED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 </a:t>
            </a:r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how increasing the concentration of the acid changes the rate of reaction.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28216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marks did each answer earn — and what were they for?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4773717" cy="4425696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INDICATIVE CONTENT</a:t>
            </a:r>
            <a:endParaRPr lang="en-US" sz="13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CONCENTRATION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acid particles in the same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particles are closer together</a:t>
            </a:r>
            <a:endParaRPr lang="en-US" sz="13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THEORY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collisions are more </a:t>
            </a:r>
            <a:pPr algn="l"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frequent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successful collisions per second</a:t>
            </a:r>
            <a:endParaRPr lang="en-US" sz="1300" dirty="0"/>
          </a:p>
          <a:p>
            <a:pPr algn="l" indent="0" marL="0">
              <a:spcBef>
                <a:spcPts val="3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E0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</a:t>
            </a:r>
            <a:pPr algn="l" indent="0" marL="0">
              <a:buNone/>
            </a:pPr>
            <a:r>
              <a:rPr lang="en-US" sz="1400" u="sng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increases</a:t>
            </a:r>
            <a:endParaRPr lang="en-US" sz="13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pPr algn="l" indent="0" marL="0"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total gas produced is unchanged </a:t>
            </a:r>
            <a:pPr algn="l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unless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acid is limiting</a:t>
            </a:r>
            <a:endParaRPr lang="en-US" sz="13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 (5 to 6):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collision theory link with correct use of frequency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(3 to 4):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collision theory, imprecise language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(1 to 2):  </a:t>
            </a:r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 the rate increases with no mechanism</a:t>
            </a:r>
            <a:endParaRPr lang="en-US" sz="13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8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EXCLUSIONARY CLAIMS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the particles have more energy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C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the collisions are harder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76637" y="2039112"/>
            <a:ext cx="6500835" cy="142646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A   </a:t>
            </a:r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· 2/6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rate increases   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no mention of frequency   </a:t>
            </a:r>
            <a:pPr algn="l"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no link to particles per volume   </a:t>
            </a:r>
            <a:endParaRPr lang="en-US" sz="13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language, no collision theory.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637" y="3538728"/>
            <a:ext cx="6500835" cy="142646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B   </a:t>
            </a:r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 · 4/6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more particles per volume   </a:t>
            </a:r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collisions increase   </a:t>
            </a:r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rate increases   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does not say collisions are more frequent   </a:t>
            </a:r>
            <a:endParaRPr lang="en-US" sz="13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to Level 3. Needs the word frequent.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6637" y="5038344"/>
            <a:ext cx="6500835" cy="142646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C   </a:t>
            </a:r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 · 1/6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rate increases   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mechanism is wrong   </a:t>
            </a:r>
            <a:endParaRPr lang="en-US" sz="13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 misconception: concentration confused with temperature.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CORRECT THE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These statements are incorrect. Correct each one in your book.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472184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62000">
            <a:off x="539496" y="1909262"/>
            <a:ext cx="365450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 rot="108000">
            <a:off x="776930" y="1873601"/>
            <a:ext cx="1001365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catalyst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 rot="-126000">
            <a:off x="1650279" y="1906519"/>
            <a:ext cx="375229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 rot="144000">
            <a:off x="1897492" y="1876344"/>
            <a:ext cx="629483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used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 rot="-90000">
            <a:off x="2398959" y="1914749"/>
            <a:ext cx="431668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up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 rot="126000">
            <a:off x="2702611" y="1881830"/>
            <a:ext cx="405684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 rot="-144000">
            <a:off x="2980279" y="1912005"/>
            <a:ext cx="540634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 rot="72000">
            <a:off x="3392896" y="1879087"/>
            <a:ext cx="1074847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reaction.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2783068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catalyst is chemically unchanged at the end.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40196" y="1472184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 rot="-162000">
            <a:off x="6268212" y="1909262"/>
            <a:ext cx="905251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Powder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 rot="108000">
            <a:off x="7045447" y="1873601"/>
            <a:ext cx="1038525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produces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 rot="-126000">
            <a:off x="7955956" y="1906519"/>
            <a:ext cx="676702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 rot="144000">
            <a:off x="8504641" y="1876344"/>
            <a:ext cx="546781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gas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 rot="-90000">
            <a:off x="8923406" y="1914749"/>
            <a:ext cx="700171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than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 rot="126000">
            <a:off x="9495561" y="1881830"/>
            <a:ext cx="770021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chips.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40196" y="2783068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 produces the same gas, just faster.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4014216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 rot="-162000">
            <a:off x="539496" y="4451294"/>
            <a:ext cx="865576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Higher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 rot="108000">
            <a:off x="1277056" y="4415633"/>
            <a:ext cx="1571341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concentration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 rot="-126000">
            <a:off x="2720381" y="4448551"/>
            <a:ext cx="662732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gives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 rot="144000">
            <a:off x="3255096" y="4418376"/>
            <a:ext cx="1043275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particles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 rot="-90000">
            <a:off x="4170355" y="4456781"/>
            <a:ext cx="676702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more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 rot="126000">
            <a:off x="4719041" y="4423862"/>
            <a:ext cx="890443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energy.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11480" y="5325100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concentration gives more frequent collisions, not more energy.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40196" y="4014216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 rot="-162000">
            <a:off x="6268212" y="4451294"/>
            <a:ext cx="576118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 rot="108000">
            <a:off x="6716314" y="4415633"/>
            <a:ext cx="633674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rate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 rot="-126000">
            <a:off x="7221972" y="4448551"/>
            <a:ext cx="375229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is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 rot="144000">
            <a:off x="7469185" y="4418376"/>
            <a:ext cx="927044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highest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 rot="-90000">
            <a:off x="8268213" y="4456781"/>
            <a:ext cx="720847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when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 rot="126000">
            <a:off x="8861044" y="4423862"/>
            <a:ext cx="540634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 rot="-144000">
            <a:off x="9273662" y="4454037"/>
            <a:ext cx="787344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graph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 rot="72000">
            <a:off x="9932990" y="4421119"/>
            <a:ext cx="375229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is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 rot="-162000">
            <a:off x="10180203" y="4451294"/>
            <a:ext cx="628645" cy="4330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flat.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140196" y="5325100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rate is zero when the graph is flat.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CORRECT THE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Raster handwriting mode, same layout rendered as an image.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472184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pic>
        <p:nvPicPr>
          <p:cNvPr id="12" name="Image 0" descr="C:\Users\magda\AppData\Local\Temp\hw_out_1790976054384_rn2mci2a8v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72184"/>
            <a:ext cx="5637276" cy="12743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11480" y="2783068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Cooling slows a reaction down.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40196" y="1472184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pic>
        <p:nvPicPr>
          <p:cNvPr id="15" name="Image 1" descr="C:\Users\magda\AppData\Local\Temp\hw_out_1790976056413_rdrrqrrmo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196" y="1472184"/>
            <a:ext cx="5637276" cy="12743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40196" y="2783068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is measured in cm3/s or g/s.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11480" y="4014216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pic>
        <p:nvPicPr>
          <p:cNvPr id="18" name="Image 2" descr="C:\Users\magda\AppData\Local\Temp\hw_out_1790976057471_njsdrg076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14216"/>
            <a:ext cx="5637276" cy="12743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1480" y="5325100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collisions with enough energy and correct orientation react.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40196" y="4014216"/>
            <a:ext cx="5637276" cy="127430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pic>
        <p:nvPicPr>
          <p:cNvPr id="21" name="Image 3" descr="C:\Users\magda\AppData\Local\Temp\hw_out_1790976058297_26y53120s6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196" y="4014216"/>
            <a:ext cx="5637276" cy="1274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40196" y="5325100"/>
            <a:ext cx="5637276" cy="113970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</a:t>
            </a:r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area changes only the rate.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DATA + GRAPH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88136"/>
          <a:ext cx="5637276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</a:tblGrid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51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(s)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51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Volume of gas (cm3)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22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38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48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54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150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57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0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58</a:t>
                      </a:r>
                      <a:endParaRPr lang="en-US" sz="15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C:\Users\magda\AppData\Local\Temp\gg_out_17909760589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196" y="1088136"/>
            <a:ext cx="5637276" cy="53766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796796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IPEVO Visualiser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280263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answers under the visualiser · Reference C Marking Slides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2514" y="3351276"/>
            <a:ext cx="670392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https://apps.ipevo.com/pwa/visualizer.app/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28516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Click to open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· CHOOSE YOUR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697224" cy="384048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what indicative content means.  [1 mark]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unit of rate by gas volume.  [1 mark]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one thing that never earns a mark.  [1 mark]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45864" y="1088136"/>
            <a:ext cx="3697224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45864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a mark scheme lists 'do not accept' wording.  [2 marks]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45864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what error carried forward allows.  [2 marks]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45864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the difference between Level 2 and Level 3 here.  [2 marks]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80248" y="1088136"/>
            <a:ext cx="3697224" cy="384048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80248" y="1527048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Student C's answer and justify your decision using the mark scheme.  [4 marks]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80248" y="3197352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 Student A's answer so it would reach Level 3.  [4 marks]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80248" y="4867656"/>
            <a:ext cx="3697224" cy="15971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band marking suits a 6 mark explanation but not a calculation.  [3 marks]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TODAY’S LEARNING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ECF allow?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 method marks after an earlier slip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separates Level 2 from Level 3?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Linking mechanism to outcome, not just stating 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'the collisions are harder' excluded?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the temperature explanation, not concentration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exam answers accurately against a mark scheme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BANK — sources and assets used in this lesson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pic>
        <p:nvPicPr>
          <p:cNvPr id="4" name="Image 0" descr="C:\Users\magda\AppData\Local\Temp\gg_out_17909760622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85216"/>
            <a:ext cx="11274552" cy="55595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618134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graph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2026-10-02T21:21:08Z</dcterms:created>
  <dcterms:modified xsi:type="dcterms:W3CDTF">2026-10-02T21:21:08Z</dcterms:modified>
</cp:coreProperties>
</file>