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Worked example steps (work live):
1. rate = bubbles \div time
2. rate = 45 \div 3
3. rate = 15 bubbles per minute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apps.ipevo.com/pwa/visualizer.app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713232"/>
            <a:ext cx="3976543" cy="13258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 D: annotation and empty state edges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11480" y="2221992"/>
            <a:ext cx="397654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ABB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Year 8  ·  Biology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606040"/>
            <a:ext cx="3976543" cy="3520440"/>
          </a:xfrm>
          <a:prstGeom prst="rect">
            <a:avLst/>
          </a:prstGeom>
          <a:solidFill>
            <a:srgbClr val="152347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t">
            <a:normAutofit/>
          </a:bodyPr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Objectives:</a:t>
            </a:r>
            <a:endParaRPr lang="en-US" sz="13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 Work through a calculation live with the class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61175" y="713232"/>
            <a:ext cx="11887" cy="5413248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13" name="Text 11"/>
          <p:cNvSpPr/>
          <p:nvPr/>
        </p:nvSpPr>
        <p:spPr>
          <a:xfrm>
            <a:off x="4625767" y="713232"/>
            <a:ext cx="7151705" cy="365760"/>
          </a:xfrm>
          <a:prstGeom prst="rect">
            <a:avLst/>
          </a:prstGeom>
          <a:solidFill>
            <a:srgbClr val="25408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625767" y="136474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ABB2E"/>
          </a:solidFill>
          <a:ln/>
        </p:spPr>
      </p:sp>
      <p:sp>
        <p:nvSpPr>
          <p:cNvPr id="15" name="Text 13"/>
          <p:cNvSpPr/>
          <p:nvPr/>
        </p:nvSpPr>
        <p:spPr>
          <a:xfrm>
            <a:off x="4625767" y="136474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128687" y="1170432"/>
            <a:ext cx="6648785" cy="772668"/>
          </a:xfrm>
          <a:prstGeom prst="rect">
            <a:avLst/>
          </a:prstGeom>
          <a:solidFill>
            <a:srgbClr val="F8F7F0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 producer?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4625767" y="221056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ABB2E"/>
          </a:solidFill>
          <a:ln/>
        </p:spPr>
      </p:sp>
      <p:sp>
        <p:nvSpPr>
          <p:cNvPr id="18" name="Text 16"/>
          <p:cNvSpPr/>
          <p:nvPr/>
        </p:nvSpPr>
        <p:spPr>
          <a:xfrm>
            <a:off x="4625767" y="221056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128687" y="2016252"/>
            <a:ext cx="6648785" cy="772668"/>
          </a:xfrm>
          <a:prstGeom prst="rect">
            <a:avLst/>
          </a:prstGeom>
          <a:solidFill>
            <a:srgbClr val="F8F7F0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 the process plants use to make glucose.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4625767" y="305638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ABB2E"/>
          </a:solidFill>
          <a:ln/>
        </p:spPr>
      </p:sp>
      <p:sp>
        <p:nvSpPr>
          <p:cNvPr id="21" name="Text 19"/>
          <p:cNvSpPr/>
          <p:nvPr/>
        </p:nvSpPr>
        <p:spPr>
          <a:xfrm>
            <a:off x="4625767" y="305638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128687" y="2862072"/>
            <a:ext cx="6648785" cy="772668"/>
          </a:xfrm>
          <a:prstGeom prst="rect">
            <a:avLst/>
          </a:prstGeom>
          <a:solidFill>
            <a:srgbClr val="F8F7F0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in the cell does photosynthesis happen?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4625767" y="390220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ABB2E"/>
          </a:solidFill>
          <a:ln/>
        </p:spPr>
      </p:sp>
      <p:sp>
        <p:nvSpPr>
          <p:cNvPr id="24" name="Text 22"/>
          <p:cNvSpPr/>
          <p:nvPr/>
        </p:nvSpPr>
        <p:spPr>
          <a:xfrm>
            <a:off x="4625767" y="390220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128687" y="3707892"/>
            <a:ext cx="6648785" cy="772668"/>
          </a:xfrm>
          <a:prstGeom prst="rect">
            <a:avLst/>
          </a:prstGeom>
          <a:solidFill>
            <a:srgbClr val="F8F7F0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gas do plants take in for photosynthesis?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4625767" y="474802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ABB2E"/>
          </a:solidFill>
          <a:ln/>
        </p:spPr>
      </p:sp>
      <p:sp>
        <p:nvSpPr>
          <p:cNvPr id="27" name="Text 25"/>
          <p:cNvSpPr/>
          <p:nvPr/>
        </p:nvSpPr>
        <p:spPr>
          <a:xfrm>
            <a:off x="4625767" y="474802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128687" y="4553712"/>
            <a:ext cx="6648785" cy="772668"/>
          </a:xfrm>
          <a:prstGeom prst="rect">
            <a:avLst/>
          </a:prstGeom>
          <a:solidFill>
            <a:srgbClr val="F8F7F0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endParaRPr lang="en-US" sz="1900" dirty="0"/>
          </a:p>
        </p:txBody>
      </p:sp>
      <p:sp>
        <p:nvSpPr>
          <p:cNvPr id="29" name="Shape 27"/>
          <p:cNvSpPr/>
          <p:nvPr/>
        </p:nvSpPr>
        <p:spPr>
          <a:xfrm>
            <a:off x="4625767" y="559384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ABB2E"/>
          </a:solidFill>
          <a:ln/>
        </p:spPr>
      </p:sp>
      <p:sp>
        <p:nvSpPr>
          <p:cNvPr id="30" name="Text 28"/>
          <p:cNvSpPr/>
          <p:nvPr/>
        </p:nvSpPr>
        <p:spPr>
          <a:xfrm>
            <a:off x="4625767" y="559384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128687" y="5399532"/>
            <a:ext cx="6648785" cy="772668"/>
          </a:xfrm>
          <a:prstGeom prst="rect">
            <a:avLst/>
          </a:prstGeom>
          <a:solidFill>
            <a:srgbClr val="F8F7F0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0" y="6245352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161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Silent start · pen out · attempt all questions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 through a calculation live with the class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"/>
            <a:ext cx="12188952" cy="347472"/>
          </a:xfrm>
          <a:prstGeom prst="rect">
            <a:avLst/>
          </a:prstGeom>
          <a:solidFill>
            <a:srgbClr val="6A0DAD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☞  Purple pen time · mark and correct your answers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088136"/>
            <a:ext cx="3978097" cy="1289304"/>
          </a:xfrm>
          <a:prstGeom prst="rect">
            <a:avLst/>
          </a:prstGeom>
          <a:solidFill>
            <a:srgbClr val="25408D"/>
          </a:solidFill>
          <a:ln/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 producer?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462729" y="1088136"/>
            <a:ext cx="7314743" cy="1289304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 organism that makes its own food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11480" y="2450592"/>
            <a:ext cx="3978097" cy="1289304"/>
          </a:xfrm>
          <a:prstGeom prst="rect">
            <a:avLst/>
          </a:prstGeom>
          <a:solidFill>
            <a:srgbClr val="25408D"/>
          </a:solidFill>
          <a:ln/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 the process plants use to make glucose.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4462729" y="2450592"/>
            <a:ext cx="7314743" cy="1289304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Photosynthesis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11480" y="3813048"/>
            <a:ext cx="3978097" cy="1289304"/>
          </a:xfrm>
          <a:prstGeom prst="rect">
            <a:avLst/>
          </a:prstGeom>
          <a:solidFill>
            <a:srgbClr val="25408D"/>
          </a:solidFill>
          <a:ln/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in the cell does photosynthesis happen?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462729" y="3813048"/>
            <a:ext cx="7314743" cy="1289304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chloroplast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11480" y="5175504"/>
            <a:ext cx="3978097" cy="1289304"/>
          </a:xfrm>
          <a:prstGeom prst="rect">
            <a:avLst/>
          </a:prstGeom>
          <a:solidFill>
            <a:srgbClr val="25408D"/>
          </a:solidFill>
          <a:ln/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gas do plants take in for photosynthesis?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462729" y="5175504"/>
            <a:ext cx="7314743" cy="1289304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Carbon dioxide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 through a calculation live with the class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B5E2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"/>
            <a:ext cx="12188952" cy="347472"/>
          </a:xfrm>
          <a:prstGeom prst="rect">
            <a:avLst/>
          </a:prstGeom>
          <a:solidFill>
            <a:srgbClr val="1B5E20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 · DEMONSTRATION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088136"/>
            <a:ext cx="11365992" cy="5376672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pondweed shoot is placed under a lamp. Bubbles appear from the cut stem, and they appear faster when the lamp is moved closer. Nothing else about the setup changes.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F9A82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"/>
            <a:ext cx="12188952" cy="347472"/>
          </a:xfrm>
          <a:prstGeom prst="rect">
            <a:avLst/>
          </a:prstGeom>
          <a:solidFill>
            <a:srgbClr val="F9A825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 · PHOTOSYNTHESIS IN ONE LINE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88136"/>
          <a:ext cx="6251296" cy="914400"/>
        </p:xfrm>
        <a:graphic>
          <a:graphicData uri="http://schemas.openxmlformats.org/drawingml/2006/table">
            <a:tbl>
              <a:tblPr/>
              <a:tblGrid>
                <a:gridCol w="6251296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Photosynthesis in one line</a:t>
                      </a:r>
                      <a:endParaRPr lang="en-US" sz="2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54864" marR="54864" marT="54864" marB="54864" anchor="ctr">
                    <a:lnL w="25400" cap="flat" cmpd="sng" algn="ctr">
                      <a:solidFill>
                        <a:srgbClr val="FAB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AB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AB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AB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5E"/>
                    </a:solidFill>
                  </a:tcPr>
                </a:tc>
              </a:tr>
              <a:tr h="4782312">
                <a:tc>
                  <a:txBody>
                    <a:bodyPr/>
                    <a:lstStyle/>
                    <a:p>
                      <a:pPr indent="0" marL="0">
                        <a:spcAft>
                          <a:spcPts val="400"/>
                        </a:spcAft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Carbon dioxide plus water, using light energy, makes glucose plus oxygen.</a:t>
                      </a:r>
                      <a:endParaRPr lang="en-US" sz="2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  <a:p>
                      <a:pPr indent="0" marL="0">
                        <a:spcAft>
                          <a:spcPts val="400"/>
                        </a:spcAft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The chloroplast holds the chlorophyll that absorbs the light.</a:t>
                      </a:r>
                      <a:endParaRPr lang="en-US" sz="2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54864" marR="54864" marT="54864" marB="54864" anchor="t">
                    <a:lnL w="25400" cap="flat" cmpd="sng" algn="ctr">
                      <a:solidFill>
                        <a:srgbClr val="FAB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AB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AB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AB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 through a calculation live with the class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F9A82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"/>
            <a:ext cx="12188952" cy="347472"/>
          </a:xfrm>
          <a:prstGeom prst="rect">
            <a:avLst/>
          </a:prstGeom>
          <a:solidFill>
            <a:srgbClr val="F9A825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 · RATE AGAINST LIGHT INTENSITY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088136"/>
            <a:ext cx="5910316" cy="292608"/>
          </a:xfrm>
          <a:prstGeom prst="rect">
            <a:avLst/>
          </a:prstGeom>
          <a:solidFill>
            <a:srgbClr val="F0F4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Rate of photosynthesis</a:t>
            </a:r>
            <a:pPr algn="l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│  </a:t>
            </a:r>
            <a:pPr algn="l" indent="0" marL="0">
              <a:buNone/>
            </a:pPr>
            <a:r>
              <a:rPr lang="en-US" sz="1100" b="1" dirty="0">
                <a:solidFill>
                  <a:srgbClr val="0D1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 intensity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1426464"/>
            <a:ext cx="5910316" cy="5038344"/>
          </a:xfrm>
          <a:prstGeom prst="rect">
            <a:avLst/>
          </a:prstGeom>
          <a:solidFill>
            <a:srgbClr val="D0D0D0"/>
          </a:solidFill>
          <a:ln w="12700">
            <a:solidFill>
              <a:srgbClr val="999999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[Image — add imageDescription to JSON]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58956" y="1088136"/>
            <a:ext cx="5318516" cy="5376672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0D1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Sketch the curve on your whiteboard. Mark where light stops being the limiting factor.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 through a calculation live with the class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"/>
            <a:ext cx="12188952" cy="347472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· WORKED EXAMPLE → YOUR TURN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088136"/>
            <a:ext cx="5271516" cy="347472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WORKED EXAMPLE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68796" y="1088136"/>
            <a:ext cx="5271516" cy="347472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TURN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1527048"/>
            <a:ext cx="5271516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 pondweed gives off 45 bubbles in 3 minutes. Find the rate per minute.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68796" y="1527048"/>
            <a:ext cx="5271516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The same pondweed gives off 84 bubbles in 4 minutes. Find the rate.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395728"/>
            <a:ext cx="5029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ABB2E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594360" y="24231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worked live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368796" y="2395728"/>
            <a:ext cx="5271516" cy="4069080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 through a calculation live with the class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14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1796796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IPEVO Visualiser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0" y="2802636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answers under the visualiser · Reference D Annotation Mode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2514" y="3351276"/>
            <a:ext cx="6703924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ctr" indent="0" marL="0">
              <a:buNone/>
            </a:pPr>
            <a:r>
              <a:rPr lang="en-US" sz="1600" u="sng" dirty="0">
                <a:solidFill>
                  <a:srgbClr val="0083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https://apps.ipevo.com/pwa/visualizer.app/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0" y="4128516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↑  Click to open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 through a calculation live with the class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B71C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"/>
            <a:ext cx="12188952" cy="347472"/>
          </a:xfrm>
          <a:prstGeom prst="rect">
            <a:avLst/>
          </a:prstGeom>
          <a:solidFill>
            <a:srgbClr val="B71C1C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 · CHOOSE YOUR LEVEL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088136"/>
            <a:ext cx="3697224" cy="384048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1527048"/>
            <a:ext cx="3697224" cy="1597152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  </a:t>
            </a:r>
            <a:pPr algn="l" indent="0" marL="0">
              <a:buNone/>
            </a:pPr>
            <a:r>
              <a:rPr lang="en-US" sz="22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 the gas given off in photosynthesis.  [1 mark]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3197352"/>
            <a:ext cx="3697224" cy="1597152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  </a:t>
            </a:r>
            <a:pPr algn="l" indent="0" marL="0">
              <a:buNone/>
            </a:pPr>
            <a:r>
              <a:rPr lang="en-US" sz="22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where photosynthesis happens.  [1 mark]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4867656"/>
            <a:ext cx="3697224" cy="1597152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  </a:t>
            </a:r>
            <a:pPr algn="l" indent="0" marL="0">
              <a:buNone/>
            </a:pPr>
            <a:r>
              <a:rPr lang="en-US" sz="22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Give one factor that limits photosynthesis.  [1 mark]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45864" y="1088136"/>
            <a:ext cx="3697224" cy="384048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REACHING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45864" y="1527048"/>
            <a:ext cx="3697224" cy="1597152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  </a:t>
            </a:r>
            <a:pPr algn="l" indent="0" marL="0">
              <a:buNone/>
            </a:pPr>
            <a:r>
              <a:rPr lang="en-US" sz="22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 why bubble rate rises as the lamp moves closer.  [2 marks]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45864" y="3197352"/>
            <a:ext cx="3697224" cy="1597152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  </a:t>
            </a:r>
            <a:pPr algn="l" indent="0" marL="0">
              <a:buNone/>
            </a:pPr>
            <a:r>
              <a:rPr lang="en-US" sz="22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 why the curve eventually flattens.  [2 marks]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80248" y="1088136"/>
            <a:ext cx="3697224" cy="384048"/>
          </a:xfrm>
          <a:prstGeom prst="rect">
            <a:avLst/>
          </a:prstGeom>
          <a:solidFill>
            <a:srgbClr val="B71C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MASTERING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80248" y="1527048"/>
            <a:ext cx="3697224" cy="1597152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  </a:t>
            </a:r>
            <a:pPr algn="l"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a fair test to find the effect of light intensity on photosynthesis rate.  [6 marks]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 through a calculation live with the class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B5E2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603504"/>
            <a:ext cx="795619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 · DEVELOPING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0" y="950976"/>
            <a:ext cx="12188952" cy="347472"/>
          </a:xfrm>
          <a:prstGeom prst="rect">
            <a:avLst/>
          </a:prstGeom>
          <a:solidFill>
            <a:srgbClr val="6A0DAD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☞  Purple pen time · mark and correct your answers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1389888"/>
            <a:ext cx="3978097" cy="1655064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 the gas given off in photosynthesis.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462729" y="1389888"/>
            <a:ext cx="7314743" cy="1655064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Oxygen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11480" y="3099816"/>
            <a:ext cx="3978097" cy="1655064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where photosynthesis happens.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462729" y="3099816"/>
            <a:ext cx="7314743" cy="1655064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the chloroplasts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11480" y="4809744"/>
            <a:ext cx="3978097" cy="1655064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Give one factor that limits photosynthesis.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462729" y="4809744"/>
            <a:ext cx="7314743" cy="1655064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 intensity, carbon dioxide or temperature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 through a calculation live with the class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B5E2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603504"/>
            <a:ext cx="795619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 · REACHING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0" y="950976"/>
            <a:ext cx="12188952" cy="347472"/>
          </a:xfrm>
          <a:prstGeom prst="rect">
            <a:avLst/>
          </a:prstGeom>
          <a:solidFill>
            <a:srgbClr val="6A0DAD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☞  Purple pen time · mark and correct your answers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1389888"/>
            <a:ext cx="3978097" cy="2510028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 why bubble rate rises as the lamp moves closer.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462729" y="1389888"/>
            <a:ext cx="7314743" cy="2510028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light energy is available, so the rate rises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11480" y="3954780"/>
            <a:ext cx="3978097" cy="2510028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 why the curve eventually flattens.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462729" y="3954780"/>
            <a:ext cx="7314743" cy="2510028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Another factor becomes limiting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 through a calculation live with the class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B5E2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603504"/>
            <a:ext cx="795619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 · MASTERING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0" y="950976"/>
            <a:ext cx="12188952" cy="347472"/>
          </a:xfrm>
          <a:prstGeom prst="rect">
            <a:avLst/>
          </a:prstGeom>
          <a:solidFill>
            <a:srgbClr val="6A0DAD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☞  Purple pen time · mark and correct your answers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1389888"/>
            <a:ext cx="3978097" cy="5074920"/>
          </a:xfrm>
          <a:prstGeom prst="rect">
            <a:avLst/>
          </a:prstGeom>
          <a:solidFill>
            <a:srgbClr val="B71C1C"/>
          </a:solidFill>
          <a:ln/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a fair test to find the effect of light intensity on photosynthesis rate.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462729" y="1389888"/>
            <a:ext cx="7314743" cy="5074920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Vary lamp distance, keep temperature and carbon dioxide constant, count bubbles per minute, repeat and mean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 through a calculation live with the class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rebuchet M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2026-09-03T23:10:51Z</dcterms:created>
  <dcterms:modified xsi:type="dcterms:W3CDTF">2026-09-03T23:10:51Z</dcterms:modified>
</cp:coreProperties>
</file>